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us Jakarta Sans ExtraBold"/>
      <p:bold r:id="rId16"/>
      <p:boldItalic r:id="rId17"/>
    </p:embeddedFont>
    <p:embeddedFont>
      <p:font typeface="Inter SemiBold"/>
      <p:regular r:id="rId18"/>
      <p:bold r:id="rId19"/>
      <p:italic r:id="rId20"/>
      <p:boldItalic r:id="rId21"/>
    </p:embeddedFont>
    <p:embeddedFont>
      <p:font typeface="Plus Jakarta Sans"/>
      <p:bold r:id="rId22"/>
      <p:boldItalic r:id="rId23"/>
    </p:embeddedFont>
    <p:embeddedFont>
      <p:font typeface="Inter"/>
      <p:bold r:id="rId24"/>
      <p:boldItalic r:id="rId25"/>
    </p:embeddedFont>
    <p:embeddedFont>
      <p:font typeface="Plus Jakarta Sans SemiBold"/>
      <p:regular r:id="rId26"/>
      <p:bold r:id="rId27"/>
      <p:italic r:id="rId28"/>
      <p:boldItalic r:id="rId29"/>
    </p:embeddedFont>
    <p:embeddedFont>
      <p:font typeface="Inter ExtraBold"/>
      <p:bold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lusJakartaSans-bold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bold.fntdata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SemiBold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PlusJakartaSansSemiBold-italic.fntdata"/><Relationship Id="rId27" Type="http://schemas.openxmlformats.org/officeDocument/2006/relationships/font" Target="fonts/PlusJakartaSa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.fntdata"/><Relationship Id="rId10" Type="http://schemas.openxmlformats.org/officeDocument/2006/relationships/slide" Target="slides/slide5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ExtraBold-boldItalic.fntdata"/><Relationship Id="rId16" Type="http://schemas.openxmlformats.org/officeDocument/2006/relationships/font" Target="fonts/PlusJakartaSansExtraBold-bold.fntdata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67f2eae1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67f2eae1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b67f2eae1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b67f2eae1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67f2eae1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b67f2eae1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67f2eae1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b67f2eae1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b67f2eae1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b67f2eae1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b67f2eae1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b67f2eae1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b67f2eae1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fb67f2eae1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b67f2eae1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b67f2eae1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b67f2eae1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fb67f2eae1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b67f2eae1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b67f2eae1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67f2eae1_13_0)">
  <p:cSld name="Generated (g3fb67f2eae1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9.jpg"/><Relationship Id="rId6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Relationship Id="rId4" Type="http://schemas.openxmlformats.org/officeDocument/2006/relationships/image" Target="../media/image33.png"/><Relationship Id="rId5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6.png"/><Relationship Id="rId4" Type="http://schemas.openxmlformats.org/officeDocument/2006/relationships/image" Target="../media/image47.png"/><Relationship Id="rId5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457200" y="0"/>
            <a:ext cx="8686800" cy="5143500"/>
            <a:chOff x="457200" y="0"/>
            <a:chExt cx="86868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6286500" y="0"/>
              <a:ext cx="2857500" cy="5143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66534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620000" y="0"/>
              <a:ext cx="1524000" cy="5143500"/>
            </a:xfrm>
            <a:custGeom>
              <a:rect b="b" l="l" r="r" t="t"/>
              <a:pathLst>
                <a:path extrusionOk="0" h="120000" w="120000">
                  <a:moveTo>
                    <a:pt x="4500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66534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" name="Google Shape;58;p14"/>
            <p:cNvGrpSpPr/>
            <p:nvPr/>
          </p:nvGrpSpPr>
          <p:grpSpPr>
            <a:xfrm>
              <a:off x="457200" y="419100"/>
              <a:ext cx="2800500" cy="438150"/>
              <a:chOff x="0" y="0"/>
              <a:chExt cx="2800500" cy="43815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36000" y="36000"/>
                    </a:moveTo>
                    <a:cubicBezTo>
                      <a:pt x="36000" y="36000"/>
                      <a:pt x="72000" y="0"/>
                      <a:pt x="96000" y="24000"/>
                    </a:cubicBezTo>
                    <a:cubicBezTo>
                      <a:pt x="120000" y="48000"/>
                      <a:pt x="84000" y="84000"/>
                      <a:pt x="84000" y="84000"/>
                    </a:cubicBezTo>
                    <a:cubicBezTo>
                      <a:pt x="84000" y="84000"/>
                      <a:pt x="48000" y="120000"/>
                      <a:pt x="24000" y="96000"/>
                    </a:cubicBezTo>
                    <a:cubicBezTo>
                      <a:pt x="0" y="72000"/>
                      <a:pt x="36000" y="36000"/>
                      <a:pt x="36000" y="36000"/>
                    </a:cubicBezTo>
                    <a:close/>
                  </a:path>
                </a:pathLst>
              </a:custGeom>
              <a:solidFill>
                <a:srgbClr val="16653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114300" y="114300"/>
                <a:ext cx="152400" cy="152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4"/>
              <p:cNvSpPr txBox="1"/>
              <p:nvPr/>
            </p:nvSpPr>
            <p:spPr>
              <a:xfrm>
                <a:off x="419100" y="57150"/>
                <a:ext cx="2381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400">
                    <a:solidFill>
                      <a:srgbClr val="0F172A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JAYMANI</a:t>
                </a:r>
                <a:endParaRPr b="0" sz="140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KRISHI SEWA</a:t>
                </a:r>
                <a:endParaRPr b="0" sz="9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63" name="Google Shape;63;p14"/>
          <p:cNvGrpSpPr/>
          <p:nvPr/>
        </p:nvGrpSpPr>
        <p:grpSpPr>
          <a:xfrm>
            <a:off x="457200" y="971550"/>
            <a:ext cx="4381500" cy="285900"/>
            <a:chOff x="0" y="0"/>
            <a:chExt cx="4381500" cy="285900"/>
          </a:xfrm>
        </p:grpSpPr>
        <p:sp>
          <p:nvSpPr>
            <p:cNvPr id="64" name="Google Shape;64;p14"/>
            <p:cNvSpPr/>
            <p:nvPr/>
          </p:nvSpPr>
          <p:spPr>
            <a:xfrm>
              <a:off x="0" y="0"/>
              <a:ext cx="4381500" cy="285900"/>
            </a:xfrm>
            <a:prstGeom prst="roundRect">
              <a:avLst>
                <a:gd fmla="val 50000" name="adj"/>
              </a:avLst>
            </a:prstGeom>
            <a:solidFill>
              <a:srgbClr val="E6F4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133350" y="0"/>
              <a:ext cx="41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Zeroth Evaluation  |  Project Title Approval  |  CSCR2600 — PBL</a:t>
              </a:r>
              <a:endParaRPr b="0" sz="85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66" name="Google Shape;66;p14"/>
          <p:cNvSpPr txBox="1"/>
          <p:nvPr/>
        </p:nvSpPr>
        <p:spPr>
          <a:xfrm>
            <a:off x="457200" y="1390650"/>
            <a:ext cx="45720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JAYMANI KRISHI SEWA</a:t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350">
                <a:solidFill>
                  <a:srgbClr val="16653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Digital Agritech Marketplace for Farmers &amp; Local Vendors</a:t>
            </a:r>
            <a:endParaRPr b="0" sz="1350">
              <a:solidFill>
                <a:srgbClr val="166534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>
            <a:off x="457200" y="2743200"/>
            <a:ext cx="4438800" cy="400200"/>
            <a:chOff x="0" y="0"/>
            <a:chExt cx="4438800" cy="400200"/>
          </a:xfrm>
        </p:grpSpPr>
        <p:sp>
          <p:nvSpPr>
            <p:cNvPr id="68" name="Google Shape;68;p14"/>
            <p:cNvSpPr/>
            <p:nvPr/>
          </p:nvSpPr>
          <p:spPr>
            <a:xfrm>
              <a:off x="0" y="0"/>
              <a:ext cx="38100" cy="4002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152400" y="0"/>
              <a:ext cx="4286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GB" sz="11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"Connecting farmers with local agricultural supplies digitally."</a:t>
              </a:r>
              <a:endParaRPr b="0" i="1" sz="11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5005388" y="319088"/>
            <a:ext cx="3819600" cy="2267100"/>
            <a:chOff x="-138112" y="-100012"/>
            <a:chExt cx="3819600" cy="2267100"/>
          </a:xfrm>
        </p:grpSpPr>
        <p:pic>
          <p:nvPicPr>
            <p:cNvPr id="71" name="Google Shape;71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38112" y="-100012"/>
              <a:ext cx="3819600" cy="226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4"/>
            <p:cNvPicPr preferRelativeResize="0"/>
            <p:nvPr/>
          </p:nvPicPr>
          <p:blipFill rotWithShape="1">
            <a:blip r:embed="rId5">
              <a:alphaModFix/>
            </a:blip>
            <a:srcRect b="1352" l="0" r="0" t="1362"/>
            <a:stretch/>
          </p:blipFill>
          <p:spPr>
            <a:xfrm>
              <a:off x="57150" y="57150"/>
              <a:ext cx="3429000" cy="1876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" name="Google Shape;73;p14"/>
          <p:cNvGrpSpPr/>
          <p:nvPr/>
        </p:nvGrpSpPr>
        <p:grpSpPr>
          <a:xfrm>
            <a:off x="5000625" y="2447925"/>
            <a:ext cx="3829200" cy="1800300"/>
            <a:chOff x="-142875" y="-104775"/>
            <a:chExt cx="3829200" cy="1800300"/>
          </a:xfrm>
        </p:grpSpPr>
        <p:pic>
          <p:nvPicPr>
            <p:cNvPr id="74" name="Google Shape;74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142875" y="-104775"/>
              <a:ext cx="3829200" cy="1800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" name="Google Shape;75;p14"/>
            <p:cNvGrpSpPr/>
            <p:nvPr/>
          </p:nvGrpSpPr>
          <p:grpSpPr>
            <a:xfrm>
              <a:off x="219075" y="133350"/>
              <a:ext cx="3171825" cy="381000"/>
              <a:chOff x="28575" y="-19050"/>
              <a:chExt cx="3171825" cy="381000"/>
            </a:xfrm>
          </p:grpSpPr>
          <p:sp>
            <p:nvSpPr>
              <p:cNvPr id="76" name="Google Shape;76;p14"/>
              <p:cNvSpPr/>
              <p:nvPr/>
            </p:nvSpPr>
            <p:spPr>
              <a:xfrm>
                <a:off x="28575" y="28575"/>
                <a:ext cx="57300" cy="573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 txBox="1"/>
              <p:nvPr/>
            </p:nvSpPr>
            <p:spPr>
              <a:xfrm>
                <a:off x="152400" y="-19050"/>
                <a:ext cx="3048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PROJECT TEAM</a:t>
                </a:r>
                <a:endParaRPr b="0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Manish Pandey  •  Jayant Raj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cxnSp>
          <p:nvCxnSpPr>
            <p:cNvPr id="78" name="Google Shape;78;p14"/>
            <p:cNvCxnSpPr/>
            <p:nvPr/>
          </p:nvCxnSpPr>
          <p:spPr>
            <a:xfrm>
              <a:off x="190500" y="590550"/>
              <a:ext cx="3162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9" name="Google Shape;79;p14"/>
            <p:cNvGrpSpPr/>
            <p:nvPr/>
          </p:nvGrpSpPr>
          <p:grpSpPr>
            <a:xfrm>
              <a:off x="219075" y="647700"/>
              <a:ext cx="3171825" cy="381000"/>
              <a:chOff x="28575" y="-19050"/>
              <a:chExt cx="3171825" cy="381000"/>
            </a:xfrm>
          </p:grpSpPr>
          <p:sp>
            <p:nvSpPr>
              <p:cNvPr id="80" name="Google Shape;80;p14"/>
              <p:cNvSpPr/>
              <p:nvPr/>
            </p:nvSpPr>
            <p:spPr>
              <a:xfrm>
                <a:off x="28575" y="28575"/>
                <a:ext cx="57300" cy="57300"/>
              </a:xfrm>
              <a:prstGeom prst="ellipse">
                <a:avLst/>
              </a:prstGeom>
              <a:solidFill>
                <a:srgbClr val="1665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4"/>
              <p:cNvSpPr txBox="1"/>
              <p:nvPr/>
            </p:nvSpPr>
            <p:spPr>
              <a:xfrm>
                <a:off x="152400" y="-19050"/>
                <a:ext cx="3048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FACULTY MENTOR</a:t>
                </a:r>
                <a:endParaRPr b="0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Prof. (Dr.) Ali Imam Abidi</a:t>
                </a:r>
                <a:endParaRPr b="0" sz="11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cxnSp>
          <p:nvCxnSpPr>
            <p:cNvPr id="82" name="Google Shape;82;p14"/>
            <p:cNvCxnSpPr/>
            <p:nvPr/>
          </p:nvCxnSpPr>
          <p:spPr>
            <a:xfrm>
              <a:off x="190500" y="1104900"/>
              <a:ext cx="3162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" name="Google Shape;83;p14"/>
            <p:cNvSpPr txBox="1"/>
            <p:nvPr/>
          </p:nvSpPr>
          <p:spPr>
            <a:xfrm>
              <a:off x="190500" y="1162050"/>
              <a:ext cx="3162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Sharda University  |  School of CSE</a:t>
              </a:r>
              <a:endParaRPr b="0" sz="85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4" name="Google Shape;84;p14"/>
          <p:cNvGrpSpPr/>
          <p:nvPr/>
        </p:nvGrpSpPr>
        <p:grpSpPr>
          <a:xfrm>
            <a:off x="457200" y="4400550"/>
            <a:ext cx="4152900" cy="381000"/>
            <a:chOff x="457200" y="4400550"/>
            <a:chExt cx="4152900" cy="381000"/>
          </a:xfrm>
        </p:grpSpPr>
        <p:sp>
          <p:nvSpPr>
            <p:cNvPr id="85" name="Google Shape;85;p14"/>
            <p:cNvSpPr/>
            <p:nvPr/>
          </p:nvSpPr>
          <p:spPr>
            <a:xfrm>
              <a:off x="457200" y="44386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609600" y="4400550"/>
              <a:ext cx="400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SHARDA UNIVERSITY • SCHOOL OF COMPUTER SCIENCE &amp; ENGINEERING</a:t>
              </a:r>
              <a:endParaRPr b="1" sz="8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23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DEPARTMENT OF B.TECH CSE  •  ACADEMIC EVALUATION 2026</a:t>
              </a:r>
              <a:endParaRPr b="0" sz="723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B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0" y="0"/>
              <a:ext cx="3048000" cy="5143500"/>
            </a:xfrm>
            <a:prstGeom prst="rect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0" y="4191000"/>
              <a:ext cx="952500" cy="952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2C55E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" name="Google Shape;95;p15"/>
            <p:cNvGrpSpPr/>
            <p:nvPr/>
          </p:nvGrpSpPr>
          <p:grpSpPr>
            <a:xfrm>
              <a:off x="304800" y="304800"/>
              <a:ext cx="2240400" cy="350520"/>
              <a:chOff x="0" y="0"/>
              <a:chExt cx="2800500" cy="438150"/>
            </a:xfrm>
          </p:grpSpPr>
          <p:sp>
            <p:nvSpPr>
              <p:cNvPr id="96" name="Google Shape;96;p15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36000" y="36000"/>
                    </a:moveTo>
                    <a:cubicBezTo>
                      <a:pt x="36000" y="36000"/>
                      <a:pt x="72000" y="0"/>
                      <a:pt x="96000" y="24000"/>
                    </a:cubicBezTo>
                    <a:cubicBezTo>
                      <a:pt x="120000" y="48000"/>
                      <a:pt x="84000" y="84000"/>
                      <a:pt x="84000" y="84000"/>
                    </a:cubicBezTo>
                    <a:cubicBezTo>
                      <a:pt x="84000" y="84000"/>
                      <a:pt x="48000" y="120000"/>
                      <a:pt x="24000" y="96000"/>
                    </a:cubicBezTo>
                    <a:cubicBezTo>
                      <a:pt x="0" y="72000"/>
                      <a:pt x="36000" y="36000"/>
                      <a:pt x="36000" y="36000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114300" y="114300"/>
                <a:ext cx="152400" cy="152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16653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5"/>
              <p:cNvSpPr txBox="1"/>
              <p:nvPr/>
            </p:nvSpPr>
            <p:spPr>
              <a:xfrm>
                <a:off x="419100" y="57150"/>
                <a:ext cx="2381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9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JAYMANI</a:t>
                </a:r>
                <a:endParaRPr b="0" sz="119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A9DFB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KRISHI SEWA</a:t>
                </a:r>
                <a:endParaRPr b="0" sz="765">
                  <a:solidFill>
                    <a:srgbClr val="A9DFB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100" name="Google Shape;100;p15"/>
            <p:cNvSpPr/>
            <p:nvPr/>
          </p:nvSpPr>
          <p:spPr>
            <a:xfrm>
              <a:off x="3048000" y="5105400"/>
              <a:ext cx="6096000" cy="381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304800" y="952500"/>
            <a:ext cx="1714500" cy="228600"/>
            <a:chOff x="0" y="0"/>
            <a:chExt cx="1714500" cy="228600"/>
          </a:xfrm>
        </p:grpSpPr>
        <p:sp>
          <p:nvSpPr>
            <p:cNvPr id="102" name="Google Shape;102;p15"/>
            <p:cNvSpPr/>
            <p:nvPr/>
          </p:nvSpPr>
          <p:spPr>
            <a:xfrm>
              <a:off x="0" y="0"/>
              <a:ext cx="1714500" cy="228600"/>
            </a:xfrm>
            <a:prstGeom prst="roundRect">
              <a:avLst>
                <a:gd fmla="val 50000" name="adj"/>
              </a:avLst>
            </a:prstGeom>
            <a:solidFill>
              <a:srgbClr val="22C55E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0" y="0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DCFCE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PO1 | PROBLEM DEFINITION</a:t>
              </a:r>
              <a:endParaRPr b="0" sz="800">
                <a:solidFill>
                  <a:srgbClr val="DCFCE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04" name="Google Shape;104;p15"/>
          <p:cNvSpPr txBox="1"/>
          <p:nvPr/>
        </p:nvSpPr>
        <p:spPr>
          <a:xfrm>
            <a:off x="304800" y="1295400"/>
            <a:ext cx="2438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Core Problem Statement</a:t>
            </a:r>
            <a:endParaRPr b="0" sz="1800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grpSp>
        <p:nvGrpSpPr>
          <p:cNvPr id="105" name="Google Shape;105;p15"/>
          <p:cNvGrpSpPr/>
          <p:nvPr/>
        </p:nvGrpSpPr>
        <p:grpSpPr>
          <a:xfrm>
            <a:off x="304800" y="2000250"/>
            <a:ext cx="2438400" cy="2762400"/>
            <a:chOff x="0" y="0"/>
            <a:chExt cx="2438400" cy="2762400"/>
          </a:xfrm>
        </p:grpSpPr>
        <p:sp>
          <p:nvSpPr>
            <p:cNvPr id="106" name="Google Shape;106;p15"/>
            <p:cNvSpPr/>
            <p:nvPr/>
          </p:nvSpPr>
          <p:spPr>
            <a:xfrm>
              <a:off x="0" y="0"/>
              <a:ext cx="38100" cy="27624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152400" y="0"/>
              <a:ext cx="2286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GB" sz="1050">
                  <a:solidFill>
                    <a:srgbClr val="F0FDF4"/>
                  </a:solidFill>
                  <a:latin typeface="Inter"/>
                  <a:ea typeface="Inter"/>
                  <a:cs typeface="Inter"/>
                  <a:sym typeface="Inter"/>
                </a:rPr>
                <a:t>"There is currently no simple, hyper-local platform that connects farmers with verified local agricultural retailers while simultaneously combining product discovery, real-time inventory visibility, and digital credit records."</a:t>
              </a:r>
              <a:endParaRPr b="0" i="1" sz="1050">
                <a:solidFill>
                  <a:srgbClr val="F0FDF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A7F3D0"/>
                  </a:solidFill>
                  <a:latin typeface="Inter"/>
                  <a:ea typeface="Inter"/>
                  <a:cs typeface="Inter"/>
                  <a:sym typeface="Inter"/>
                </a:rPr>
                <a:t>The current journey flows from a fundamental farmer need to inefficient phone calls or word-of-mouth searches, resulting in multiple shop visits, stock/price uncertainty, and error-prone credit tracking.</a:t>
              </a:r>
              <a:endParaRPr b="0" sz="950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8" name="Google Shape;108;p15"/>
          <p:cNvSpPr txBox="1"/>
          <p:nvPr/>
        </p:nvSpPr>
        <p:spPr>
          <a:xfrm>
            <a:off x="3352800" y="266700"/>
            <a:ext cx="5334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Friction in Agri-Retail</a:t>
            </a:r>
            <a:endParaRPr b="1" sz="20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Farmers face severe inefficiencies due to stock uncertainty, manual credit records, and fragmented local retail access.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9" name="Google Shape;109;p15"/>
          <p:cNvGrpSpPr/>
          <p:nvPr/>
        </p:nvGrpSpPr>
        <p:grpSpPr>
          <a:xfrm>
            <a:off x="3209925" y="957263"/>
            <a:ext cx="2838600" cy="1505100"/>
            <a:chOff x="-142875" y="-90487"/>
            <a:chExt cx="2838600" cy="1505100"/>
          </a:xfrm>
        </p:grpSpPr>
        <p:pic>
          <p:nvPicPr>
            <p:cNvPr id="110" name="Google Shape;110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42875" y="-90487"/>
              <a:ext cx="2838600" cy="1505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5"/>
            <p:cNvSpPr/>
            <p:nvPr/>
          </p:nvSpPr>
          <p:spPr>
            <a:xfrm>
              <a:off x="0" y="0"/>
              <a:ext cx="2552700" cy="381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152400" y="152400"/>
              <a:ext cx="22479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Price &amp; Stock Uncertainty</a:t>
              </a:r>
              <a:endParaRPr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Farmers travel to multiple physical shops without prior knowledge of product availability or local pricing, causing major friction.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5915025" y="957263"/>
            <a:ext cx="2838600" cy="1505100"/>
            <a:chOff x="-142875" y="-90487"/>
            <a:chExt cx="2838600" cy="1505100"/>
          </a:xfrm>
        </p:grpSpPr>
        <p:pic>
          <p:nvPicPr>
            <p:cNvPr id="114" name="Google Shape;11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42875" y="-90487"/>
              <a:ext cx="2838600" cy="1505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5"/>
            <p:cNvSpPr/>
            <p:nvPr/>
          </p:nvSpPr>
          <p:spPr>
            <a:xfrm>
              <a:off x="0" y="0"/>
              <a:ext cx="2552700" cy="381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152400" y="152400"/>
              <a:ext cx="22479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Paper Bahi-Khata System</a:t>
              </a:r>
              <a:endParaRPr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Manual credit records create a fragile financial environment that is difficult to maintain, update, and preserve against loss or damage.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3209925" y="2357438"/>
            <a:ext cx="2838600" cy="1505100"/>
            <a:chOff x="-142875" y="-90487"/>
            <a:chExt cx="2838600" cy="1505100"/>
          </a:xfrm>
        </p:grpSpPr>
        <p:pic>
          <p:nvPicPr>
            <p:cNvPr id="118" name="Google Shape;11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42875" y="-90487"/>
              <a:ext cx="2838600" cy="1505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5"/>
            <p:cNvSpPr/>
            <p:nvPr/>
          </p:nvSpPr>
          <p:spPr>
            <a:xfrm>
              <a:off x="0" y="0"/>
              <a:ext cx="2552700" cy="381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52400" y="152400"/>
              <a:ext cx="22479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Time &amp; Fuel Loss</a:t>
              </a:r>
              <a:endParaRPr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Unplanned trips to distant agri-retailers lead to substantial loss of time and fuel, directly hurting farmer productivity and margins.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" name="Google Shape;121;p15"/>
          <p:cNvGrpSpPr/>
          <p:nvPr/>
        </p:nvGrpSpPr>
        <p:grpSpPr>
          <a:xfrm>
            <a:off x="5915025" y="2357438"/>
            <a:ext cx="2838600" cy="1505100"/>
            <a:chOff x="-142875" y="-90487"/>
            <a:chExt cx="2838600" cy="1505100"/>
          </a:xfrm>
        </p:grpSpPr>
        <p:pic>
          <p:nvPicPr>
            <p:cNvPr id="122" name="Google Shape;12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42875" y="-90487"/>
              <a:ext cx="2838600" cy="1505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5"/>
            <p:cNvSpPr/>
            <p:nvPr/>
          </p:nvSpPr>
          <p:spPr>
            <a:xfrm>
              <a:off x="0" y="0"/>
              <a:ext cx="2552700" cy="381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152400" y="152400"/>
              <a:ext cx="22479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Vendor Digital Limitations</a:t>
              </a:r>
              <a:endParaRPr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Local retailers lack accessible digital tools for real-time inventory management, stock updates, and customer relationship tracking.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5" name="Google Shape;125;p15"/>
          <p:cNvSpPr txBox="1"/>
          <p:nvPr/>
        </p:nvSpPr>
        <p:spPr>
          <a:xfrm>
            <a:off x="3352800" y="3848100"/>
            <a:ext cx="5257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PROBLEM JOURNEY FLOW</a:t>
            </a:r>
            <a:endParaRPr b="0" sz="900">
              <a:solidFill>
                <a:srgbClr val="16653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26" name="Google Shape;126;p15"/>
          <p:cNvGrpSpPr/>
          <p:nvPr/>
        </p:nvGrpSpPr>
        <p:grpSpPr>
          <a:xfrm>
            <a:off x="3352800" y="4057650"/>
            <a:ext cx="5257800" cy="876300"/>
            <a:chOff x="0" y="0"/>
            <a:chExt cx="5257800" cy="876300"/>
          </a:xfrm>
        </p:grpSpPr>
        <p:sp>
          <p:nvSpPr>
            <p:cNvPr id="127" name="Google Shape;127;p15"/>
            <p:cNvSpPr/>
            <p:nvPr/>
          </p:nvSpPr>
          <p:spPr>
            <a:xfrm>
              <a:off x="0" y="0"/>
              <a:ext cx="5257800" cy="876300"/>
            </a:xfrm>
            <a:prstGeom prst="roundRect">
              <a:avLst>
                <a:gd fmla="val 8695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" name="Google Shape;128;p15"/>
            <p:cNvGrpSpPr/>
            <p:nvPr/>
          </p:nvGrpSpPr>
          <p:grpSpPr>
            <a:xfrm>
              <a:off x="114300" y="133350"/>
              <a:ext cx="1095300" cy="609600"/>
              <a:chOff x="0" y="0"/>
              <a:chExt cx="1095300" cy="609600"/>
            </a:xfrm>
          </p:grpSpPr>
          <p:sp>
            <p:nvSpPr>
              <p:cNvPr id="129" name="Google Shape;129;p15"/>
              <p:cNvSpPr/>
              <p:nvPr/>
            </p:nvSpPr>
            <p:spPr>
              <a:xfrm>
                <a:off x="0" y="0"/>
                <a:ext cx="1095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5"/>
              <p:cNvSpPr txBox="1"/>
              <p:nvPr/>
            </p:nvSpPr>
            <p:spPr>
              <a:xfrm>
                <a:off x="76200" y="76200"/>
                <a:ext cx="942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STEP 1</a:t>
                </a:r>
                <a:endParaRPr b="0" sz="7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Farmer Need Arises</a:t>
                </a:r>
                <a:endParaRPr b="0" sz="8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131" name="Google Shape;131;p15"/>
            <p:cNvSpPr/>
            <p:nvPr/>
          </p:nvSpPr>
          <p:spPr>
            <a:xfrm>
              <a:off x="1266825" y="438150"/>
              <a:ext cx="954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1362075" y="40957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" name="Google Shape;133;p15"/>
            <p:cNvGrpSpPr/>
            <p:nvPr/>
          </p:nvGrpSpPr>
          <p:grpSpPr>
            <a:xfrm>
              <a:off x="1428750" y="133350"/>
              <a:ext cx="1095300" cy="609600"/>
              <a:chOff x="0" y="0"/>
              <a:chExt cx="1095300" cy="609600"/>
            </a:xfrm>
          </p:grpSpPr>
          <p:sp>
            <p:nvSpPr>
              <p:cNvPr id="134" name="Google Shape;134;p15"/>
              <p:cNvSpPr/>
              <p:nvPr/>
            </p:nvSpPr>
            <p:spPr>
              <a:xfrm>
                <a:off x="0" y="0"/>
                <a:ext cx="1095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5"/>
              <p:cNvSpPr txBox="1"/>
              <p:nvPr/>
            </p:nvSpPr>
            <p:spPr>
              <a:xfrm>
                <a:off x="76200" y="76200"/>
                <a:ext cx="942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STEP 2</a:t>
                </a:r>
                <a:endParaRPr b="0" sz="7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Word-of-Mouth / Phone Calls</a:t>
                </a:r>
                <a:endParaRPr b="0" sz="8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136" name="Google Shape;136;p15"/>
            <p:cNvSpPr/>
            <p:nvPr/>
          </p:nvSpPr>
          <p:spPr>
            <a:xfrm>
              <a:off x="2581275" y="438150"/>
              <a:ext cx="954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2676525" y="40957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8" name="Google Shape;138;p15"/>
            <p:cNvGrpSpPr/>
            <p:nvPr/>
          </p:nvGrpSpPr>
          <p:grpSpPr>
            <a:xfrm>
              <a:off x="2743200" y="133350"/>
              <a:ext cx="1095300" cy="609600"/>
              <a:chOff x="0" y="0"/>
              <a:chExt cx="1095300" cy="609600"/>
            </a:xfrm>
          </p:grpSpPr>
          <p:sp>
            <p:nvSpPr>
              <p:cNvPr id="139" name="Google Shape;139;p15"/>
              <p:cNvSpPr/>
              <p:nvPr/>
            </p:nvSpPr>
            <p:spPr>
              <a:xfrm>
                <a:off x="0" y="0"/>
                <a:ext cx="1095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5"/>
              <p:cNvSpPr txBox="1"/>
              <p:nvPr/>
            </p:nvSpPr>
            <p:spPr>
              <a:xfrm>
                <a:off x="76200" y="76200"/>
                <a:ext cx="942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STEP 3</a:t>
                </a:r>
                <a:endParaRPr b="0" sz="7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Multiple Shop Visits</a:t>
                </a:r>
                <a:endParaRPr b="0" sz="8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141" name="Google Shape;141;p15"/>
            <p:cNvSpPr/>
            <p:nvPr/>
          </p:nvSpPr>
          <p:spPr>
            <a:xfrm>
              <a:off x="3895725" y="438150"/>
              <a:ext cx="954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3990975" y="40957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" name="Google Shape;143;p15"/>
            <p:cNvGrpSpPr/>
            <p:nvPr/>
          </p:nvGrpSpPr>
          <p:grpSpPr>
            <a:xfrm>
              <a:off x="4057650" y="133350"/>
              <a:ext cx="1086000" cy="609600"/>
              <a:chOff x="0" y="0"/>
              <a:chExt cx="1086000" cy="609600"/>
            </a:xfrm>
          </p:grpSpPr>
          <p:sp>
            <p:nvSpPr>
              <p:cNvPr id="144" name="Google Shape;144;p15"/>
              <p:cNvSpPr/>
              <p:nvPr/>
            </p:nvSpPr>
            <p:spPr>
              <a:xfrm>
                <a:off x="0" y="0"/>
                <a:ext cx="10860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EF2F2"/>
              </a:solidFill>
              <a:ln cap="flat" cmpd="sng" w="9525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5"/>
              <p:cNvSpPr txBox="1"/>
              <p:nvPr/>
            </p:nvSpPr>
            <p:spPr>
              <a:xfrm>
                <a:off x="57150" y="76200"/>
                <a:ext cx="9717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DC262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PAIN POINT</a:t>
                </a:r>
                <a:endParaRPr b="0" sz="750">
                  <a:solidFill>
                    <a:srgbClr val="DC262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991B1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Manual &amp; Error-Prone Credit</a:t>
                </a:r>
                <a:endParaRPr b="0" sz="80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6"/>
          <p:cNvGrpSpPr/>
          <p:nvPr/>
        </p:nvGrpSpPr>
        <p:grpSpPr>
          <a:xfrm>
            <a:off x="0" y="266700"/>
            <a:ext cx="9144000" cy="4876800"/>
            <a:chOff x="0" y="266700"/>
            <a:chExt cx="9144000" cy="4876800"/>
          </a:xfrm>
        </p:grpSpPr>
        <p:grpSp>
          <p:nvGrpSpPr>
            <p:cNvPr id="151" name="Google Shape;151;p16"/>
            <p:cNvGrpSpPr/>
            <p:nvPr/>
          </p:nvGrpSpPr>
          <p:grpSpPr>
            <a:xfrm>
              <a:off x="457200" y="266700"/>
              <a:ext cx="2240400" cy="350520"/>
              <a:chOff x="0" y="0"/>
              <a:chExt cx="2800500" cy="438150"/>
            </a:xfrm>
          </p:grpSpPr>
          <p:sp>
            <p:nvSpPr>
              <p:cNvPr id="152" name="Google Shape;152;p16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6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36000" y="36000"/>
                    </a:moveTo>
                    <a:cubicBezTo>
                      <a:pt x="36000" y="36000"/>
                      <a:pt x="72000" y="0"/>
                      <a:pt x="96000" y="24000"/>
                    </a:cubicBezTo>
                    <a:cubicBezTo>
                      <a:pt x="120000" y="48000"/>
                      <a:pt x="84000" y="84000"/>
                      <a:pt x="84000" y="84000"/>
                    </a:cubicBezTo>
                    <a:cubicBezTo>
                      <a:pt x="84000" y="84000"/>
                      <a:pt x="48000" y="120000"/>
                      <a:pt x="24000" y="96000"/>
                    </a:cubicBezTo>
                    <a:cubicBezTo>
                      <a:pt x="0" y="72000"/>
                      <a:pt x="36000" y="36000"/>
                      <a:pt x="36000" y="36000"/>
                    </a:cubicBezTo>
                    <a:close/>
                  </a:path>
                </a:pathLst>
              </a:custGeom>
              <a:solidFill>
                <a:srgbClr val="16653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6"/>
              <p:cNvSpPr/>
              <p:nvPr/>
            </p:nvSpPr>
            <p:spPr>
              <a:xfrm>
                <a:off x="114300" y="114300"/>
                <a:ext cx="152400" cy="152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6"/>
              <p:cNvSpPr txBox="1"/>
              <p:nvPr/>
            </p:nvSpPr>
            <p:spPr>
              <a:xfrm>
                <a:off x="419100" y="57150"/>
                <a:ext cx="2381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90">
                    <a:solidFill>
                      <a:srgbClr val="0F172A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JAYMANI</a:t>
                </a:r>
                <a:endParaRPr b="0" sz="119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KRISHI SEWA</a:t>
                </a:r>
                <a:endParaRPr b="0" sz="765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56" name="Google Shape;156;p16"/>
            <p:cNvGrpSpPr/>
            <p:nvPr/>
          </p:nvGrpSpPr>
          <p:grpSpPr>
            <a:xfrm>
              <a:off x="6858000" y="266700"/>
              <a:ext cx="1828800" cy="266700"/>
              <a:chOff x="0" y="0"/>
              <a:chExt cx="1828800" cy="266700"/>
            </a:xfrm>
          </p:grpSpPr>
          <p:sp>
            <p:nvSpPr>
              <p:cNvPr id="157" name="Google Shape;157;p16"/>
              <p:cNvSpPr/>
              <p:nvPr/>
            </p:nvSpPr>
            <p:spPr>
              <a:xfrm>
                <a:off x="0" y="0"/>
                <a:ext cx="18288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E6F4EA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6"/>
              <p:cNvSpPr txBox="1"/>
              <p:nvPr/>
            </p:nvSpPr>
            <p:spPr>
              <a:xfrm>
                <a:off x="0" y="0"/>
                <a:ext cx="1828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PO4 | PROJECT CONCEPT</a:t>
                </a:r>
                <a:endParaRPr b="1" sz="85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159" name="Google Shape;159;p16"/>
            <p:cNvCxnSpPr/>
            <p:nvPr/>
          </p:nvCxnSpPr>
          <p:spPr>
            <a:xfrm>
              <a:off x="457200" y="6858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" name="Google Shape;160;p16"/>
            <p:cNvSpPr/>
            <p:nvPr/>
          </p:nvSpPr>
          <p:spPr>
            <a:xfrm>
              <a:off x="0" y="5105400"/>
              <a:ext cx="9144000" cy="38100"/>
            </a:xfrm>
            <a:prstGeom prst="rect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16"/>
          <p:cNvSpPr txBox="1"/>
          <p:nvPr/>
        </p:nvSpPr>
        <p:spPr>
          <a:xfrm>
            <a:off x="457200" y="8001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Jaymani Krishi Sewa integrates hyper-local discovery, inventory management, and digital credit into a unified platform.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62" name="Google Shape;162;p16"/>
          <p:cNvGrpSpPr/>
          <p:nvPr/>
        </p:nvGrpSpPr>
        <p:grpSpPr>
          <a:xfrm>
            <a:off x="314325" y="1247775"/>
            <a:ext cx="2876700" cy="3029100"/>
            <a:chOff x="-142875" y="-104775"/>
            <a:chExt cx="2876700" cy="3029100"/>
          </a:xfrm>
        </p:grpSpPr>
        <p:pic>
          <p:nvPicPr>
            <p:cNvPr id="163" name="Google Shape;16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5" y="-104775"/>
              <a:ext cx="2876700" cy="302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6"/>
            <p:cNvSpPr/>
            <p:nvPr/>
          </p:nvSpPr>
          <p:spPr>
            <a:xfrm>
              <a:off x="0" y="0"/>
              <a:ext cx="2590800" cy="381000"/>
            </a:xfrm>
            <a:custGeom>
              <a:rect b="b" l="l" r="r" t="t"/>
              <a:pathLst>
                <a:path extrusionOk="0" h="120000" w="120000">
                  <a:moveTo>
                    <a:pt x="0" y="36000"/>
                  </a:moveTo>
                  <a:quadBezTo>
                    <a:pt x="0" y="0"/>
                    <a:pt x="5294" y="0"/>
                  </a:quadBezTo>
                  <a:lnTo>
                    <a:pt x="114706" y="0"/>
                  </a:lnTo>
                  <a:quadBezTo>
                    <a:pt x="120000" y="0"/>
                    <a:pt x="120000" y="36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 txBox="1"/>
            <p:nvPr/>
          </p:nvSpPr>
          <p:spPr>
            <a:xfrm>
              <a:off x="152400" y="9525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6653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FARMER LAYER</a:t>
              </a:r>
              <a:endParaRPr b="1" sz="110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152400" y="495300"/>
              <a:ext cx="22860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Browse agricultural products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Check real-time local prices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Verify local stock availability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Place digital orders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View electronic invoices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Manage credit balances effortlessly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7" name="Google Shape;167;p16"/>
          <p:cNvGrpSpPr/>
          <p:nvPr/>
        </p:nvGrpSpPr>
        <p:grpSpPr>
          <a:xfrm>
            <a:off x="3128963" y="1243013"/>
            <a:ext cx="2886000" cy="3038400"/>
            <a:chOff x="-147637" y="-109537"/>
            <a:chExt cx="2886000" cy="3038400"/>
          </a:xfrm>
        </p:grpSpPr>
        <p:pic>
          <p:nvPicPr>
            <p:cNvPr id="168" name="Google Shape;168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47637" y="-109537"/>
              <a:ext cx="2886000" cy="30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6"/>
            <p:cNvSpPr/>
            <p:nvPr/>
          </p:nvSpPr>
          <p:spPr>
            <a:xfrm>
              <a:off x="0" y="0"/>
              <a:ext cx="2590800" cy="381000"/>
            </a:xfrm>
            <a:custGeom>
              <a:rect b="b" l="l" r="r" t="t"/>
              <a:pathLst>
                <a:path extrusionOk="0" h="120000" w="120000">
                  <a:moveTo>
                    <a:pt x="0" y="36000"/>
                  </a:moveTo>
                  <a:quadBezTo>
                    <a:pt x="0" y="0"/>
                    <a:pt x="5294" y="0"/>
                  </a:quadBezTo>
                  <a:lnTo>
                    <a:pt x="114706" y="0"/>
                  </a:lnTo>
                  <a:quadBezTo>
                    <a:pt x="120000" y="0"/>
                    <a:pt x="120000" y="36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152400" y="9525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SYSTEM LAYER (PLATFORM)</a:t>
              </a:r>
              <a:endParaRPr b="1" sz="1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1" name="Google Shape;171;p16"/>
            <p:cNvSpPr txBox="1"/>
            <p:nvPr/>
          </p:nvSpPr>
          <p:spPr>
            <a:xfrm>
              <a:off x="152400" y="495300"/>
              <a:ext cx="22860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Orchestrates the hyper-local marketplace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Synchronizes inventory in real time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Processes incoming orders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Maintains digital bahi-khata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Handles digital payments &amp; credit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Enforces role-based access controls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2" name="Google Shape;172;p16"/>
          <p:cNvGrpSpPr/>
          <p:nvPr/>
        </p:nvGrpSpPr>
        <p:grpSpPr>
          <a:xfrm>
            <a:off x="5953125" y="1247775"/>
            <a:ext cx="2876700" cy="3029100"/>
            <a:chOff x="-142875" y="-104775"/>
            <a:chExt cx="2876700" cy="3029100"/>
          </a:xfrm>
        </p:grpSpPr>
        <p:pic>
          <p:nvPicPr>
            <p:cNvPr id="173" name="Google Shape;17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5" y="-104775"/>
              <a:ext cx="2876700" cy="302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6"/>
            <p:cNvSpPr/>
            <p:nvPr/>
          </p:nvSpPr>
          <p:spPr>
            <a:xfrm>
              <a:off x="0" y="0"/>
              <a:ext cx="2590800" cy="381000"/>
            </a:xfrm>
            <a:custGeom>
              <a:rect b="b" l="l" r="r" t="t"/>
              <a:pathLst>
                <a:path extrusionOk="0" h="120000" w="120000">
                  <a:moveTo>
                    <a:pt x="0" y="36000"/>
                  </a:moveTo>
                  <a:quadBezTo>
                    <a:pt x="0" y="0"/>
                    <a:pt x="5294" y="0"/>
                  </a:quadBezTo>
                  <a:lnTo>
                    <a:pt x="114706" y="0"/>
                  </a:lnTo>
                  <a:quadBezTo>
                    <a:pt x="120000" y="0"/>
                    <a:pt x="120000" y="36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152400" y="9525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6653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VERIFIED VENDOR LAYER</a:t>
              </a:r>
              <a:endParaRPr b="1" sz="110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152400" y="495300"/>
              <a:ext cx="22860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Robust retailer management dashboard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Add &amp; catalog new products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Update stock levels &amp; pricing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Manage incoming customer orders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-GB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Maintain digital customer ledger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p16"/>
          <p:cNvGrpSpPr/>
          <p:nvPr/>
        </p:nvGrpSpPr>
        <p:grpSpPr>
          <a:xfrm>
            <a:off x="457200" y="4248150"/>
            <a:ext cx="8229600" cy="762000"/>
            <a:chOff x="0" y="0"/>
            <a:chExt cx="8229600" cy="762000"/>
          </a:xfrm>
        </p:grpSpPr>
        <p:sp>
          <p:nvSpPr>
            <p:cNvPr id="178" name="Google Shape;178;p16"/>
            <p:cNvSpPr/>
            <p:nvPr/>
          </p:nvSpPr>
          <p:spPr>
            <a:xfrm>
              <a:off x="0" y="0"/>
              <a:ext cx="8229600" cy="647700"/>
            </a:xfrm>
            <a:prstGeom prst="roundRect">
              <a:avLst>
                <a:gd fmla="val 14705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0" y="0"/>
              <a:ext cx="762000" cy="7620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quadBezTo>
                    <a:pt x="0" y="0"/>
                    <a:pt x="15000" y="0"/>
                  </a:quadBez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2C55E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6"/>
            <p:cNvSpPr txBox="1"/>
            <p:nvPr/>
          </p:nvSpPr>
          <p:spPr>
            <a:xfrm>
              <a:off x="228600" y="76200"/>
              <a:ext cx="7772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A9DFB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PLATFORM ARCHITECTURE</a:t>
              </a:r>
              <a:endParaRPr b="0" sz="850">
                <a:solidFill>
                  <a:srgbClr val="A9DFB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Demand + Supply + Inventory + Orders + Credit Records </a:t>
              </a:r>
              <a:r>
                <a:rPr b="0" lang="en-GB" sz="1150">
                  <a:solidFill>
                    <a:srgbClr val="22C55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→</a:t>
              </a:r>
              <a:r>
                <a:rPr b="0" lang="en-GB" sz="11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One Integrated Automated Workflow</a:t>
              </a:r>
              <a:endParaRPr b="0" sz="11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7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186" name="Google Shape;186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B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7"/>
            <p:cNvGrpSpPr/>
            <p:nvPr/>
          </p:nvGrpSpPr>
          <p:grpSpPr>
            <a:xfrm>
              <a:off x="457200" y="228600"/>
              <a:ext cx="2100375" cy="328613"/>
              <a:chOff x="0" y="0"/>
              <a:chExt cx="2800500" cy="438150"/>
            </a:xfrm>
          </p:grpSpPr>
          <p:sp>
            <p:nvSpPr>
              <p:cNvPr id="188" name="Google Shape;188;p17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36000" y="36000"/>
                    </a:moveTo>
                    <a:cubicBezTo>
                      <a:pt x="36000" y="36000"/>
                      <a:pt x="72000" y="0"/>
                      <a:pt x="96000" y="24000"/>
                    </a:cubicBezTo>
                    <a:cubicBezTo>
                      <a:pt x="120000" y="48000"/>
                      <a:pt x="84000" y="84000"/>
                      <a:pt x="84000" y="84000"/>
                    </a:cubicBezTo>
                    <a:cubicBezTo>
                      <a:pt x="84000" y="84000"/>
                      <a:pt x="48000" y="120000"/>
                      <a:pt x="24000" y="96000"/>
                    </a:cubicBezTo>
                    <a:cubicBezTo>
                      <a:pt x="0" y="72000"/>
                      <a:pt x="36000" y="36000"/>
                      <a:pt x="36000" y="36000"/>
                    </a:cubicBezTo>
                    <a:close/>
                  </a:path>
                </a:pathLst>
              </a:custGeom>
              <a:solidFill>
                <a:srgbClr val="16653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114300" y="114300"/>
                <a:ext cx="152400" cy="152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7"/>
              <p:cNvSpPr txBox="1"/>
              <p:nvPr/>
            </p:nvSpPr>
            <p:spPr>
              <a:xfrm>
                <a:off x="419100" y="57150"/>
                <a:ext cx="2381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85">
                    <a:solidFill>
                      <a:srgbClr val="0F172A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JAYMANI</a:t>
                </a:r>
                <a:endParaRPr b="0" sz="1085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698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KRISHI SEWA</a:t>
                </a:r>
                <a:endParaRPr b="0" sz="698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92" name="Google Shape;192;p17"/>
            <p:cNvGrpSpPr/>
            <p:nvPr/>
          </p:nvGrpSpPr>
          <p:grpSpPr>
            <a:xfrm>
              <a:off x="6477000" y="247650"/>
              <a:ext cx="2209800" cy="247800"/>
              <a:chOff x="0" y="0"/>
              <a:chExt cx="2209800" cy="247800"/>
            </a:xfrm>
          </p:grpSpPr>
          <p:sp>
            <p:nvSpPr>
              <p:cNvPr id="193" name="Google Shape;193;p17"/>
              <p:cNvSpPr/>
              <p:nvPr/>
            </p:nvSpPr>
            <p:spPr>
              <a:xfrm>
                <a:off x="0" y="0"/>
                <a:ext cx="22098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E6F4EA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7"/>
              <p:cNvSpPr txBox="1"/>
              <p:nvPr/>
            </p:nvSpPr>
            <p:spPr>
              <a:xfrm>
                <a:off x="0" y="0"/>
                <a:ext cx="2209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0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PO4 + PO10 | SYSTEM WORKFLOW</a:t>
                </a:r>
                <a:endParaRPr b="1" sz="8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195" name="Google Shape;195;p17"/>
            <p:cNvCxnSpPr/>
            <p:nvPr/>
          </p:nvCxnSpPr>
          <p:spPr>
            <a:xfrm>
              <a:off x="457200" y="6477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" name="Google Shape;196;p17"/>
            <p:cNvSpPr/>
            <p:nvPr/>
          </p:nvSpPr>
          <p:spPr>
            <a:xfrm>
              <a:off x="0" y="5086350"/>
              <a:ext cx="9144000" cy="57300"/>
            </a:xfrm>
            <a:prstGeom prst="rect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" name="Google Shape;197;p17"/>
          <p:cNvSpPr txBox="1"/>
          <p:nvPr/>
        </p:nvSpPr>
        <p:spPr>
          <a:xfrm>
            <a:off x="457200" y="7239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Operational Workflows</a:t>
            </a:r>
            <a:endParaRPr b="1" sz="20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platform streamlines the agricultural supply chain through seamless role-based workflows for farmers and vendors.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8" name="Google Shape;198;p17"/>
          <p:cNvGrpSpPr/>
          <p:nvPr/>
        </p:nvGrpSpPr>
        <p:grpSpPr>
          <a:xfrm>
            <a:off x="347663" y="1233488"/>
            <a:ext cx="8448600" cy="442800"/>
            <a:chOff x="-109537" y="-4762"/>
            <a:chExt cx="8448600" cy="442800"/>
          </a:xfrm>
        </p:grpSpPr>
        <p:pic>
          <p:nvPicPr>
            <p:cNvPr id="199" name="Google Shape;19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09537" y="-4762"/>
              <a:ext cx="8448600" cy="4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17"/>
            <p:cNvSpPr/>
            <p:nvPr/>
          </p:nvSpPr>
          <p:spPr>
            <a:xfrm>
              <a:off x="0" y="0"/>
              <a:ext cx="57300" cy="4002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152400" y="0"/>
              <a:ext cx="7924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Unified Registration &amp; Role-Based Login</a:t>
              </a:r>
              <a:r>
                <a:rPr lang="en-GB"/>
                <a:t> 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Access Control Matrix: </a:t>
              </a: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Farmer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Vendor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| </a:t>
              </a: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Admin</a:t>
              </a:r>
              <a:endParaRPr/>
            </a:p>
          </p:txBody>
        </p:sp>
      </p:grpSp>
      <p:pic>
        <p:nvPicPr>
          <p:cNvPr id="202" name="Google Shape;20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6975" y="1638300"/>
            <a:ext cx="19200" cy="1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975" y="1638300"/>
            <a:ext cx="19200" cy="14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17"/>
          <p:cNvGrpSpPr/>
          <p:nvPr/>
        </p:nvGrpSpPr>
        <p:grpSpPr>
          <a:xfrm>
            <a:off x="342900" y="1828800"/>
            <a:ext cx="4229100" cy="1952513"/>
            <a:chOff x="-114300" y="0"/>
            <a:chExt cx="4229100" cy="1952513"/>
          </a:xfrm>
        </p:grpSpPr>
        <p:sp>
          <p:nvSpPr>
            <p:cNvPr id="205" name="Google Shape;205;p17"/>
            <p:cNvSpPr/>
            <p:nvPr/>
          </p:nvSpPr>
          <p:spPr>
            <a:xfrm>
              <a:off x="0" y="0"/>
              <a:ext cx="4000500" cy="266700"/>
            </a:xfrm>
            <a:prstGeom prst="roundRect">
              <a:avLst>
                <a:gd fmla="val 21428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 txBox="1"/>
            <p:nvPr/>
          </p:nvSpPr>
          <p:spPr>
            <a:xfrm>
              <a:off x="114300" y="0"/>
              <a:ext cx="3771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FARMER WORKFLOW (DEMAND SIDE)</a:t>
              </a:r>
              <a:endParaRPr b="0" sz="9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07" name="Google Shape;207;p17"/>
            <p:cNvGrpSpPr/>
            <p:nvPr/>
          </p:nvGrpSpPr>
          <p:grpSpPr>
            <a:xfrm>
              <a:off x="-109537" y="333375"/>
              <a:ext cx="4219500" cy="514500"/>
              <a:chOff x="-109537" y="-9525"/>
              <a:chExt cx="4219500" cy="514500"/>
            </a:xfrm>
          </p:grpSpPr>
          <p:pic>
            <p:nvPicPr>
              <p:cNvPr id="208" name="Google Shape;208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109537" y="-9525"/>
                <a:ext cx="4219500" cy="51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9" name="Google Shape;209;p17"/>
              <p:cNvSpPr/>
              <p:nvPr/>
            </p:nvSpPr>
            <p:spPr>
              <a:xfrm>
                <a:off x="114300" y="114300"/>
                <a:ext cx="228600" cy="228600"/>
              </a:xfrm>
              <a:prstGeom prst="ellipse">
                <a:avLst/>
              </a:prstGeom>
              <a:solidFill>
                <a:srgbClr val="1665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7"/>
              <p:cNvSpPr txBox="1"/>
              <p:nvPr/>
            </p:nvSpPr>
            <p:spPr>
              <a:xfrm>
                <a:off x="114300" y="11430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01</a:t>
                </a:r>
                <a:endParaRPr b="0" sz="11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sp>
            <p:nvSpPr>
              <p:cNvPr id="211" name="Google Shape;211;p17"/>
              <p:cNvSpPr txBox="1"/>
              <p:nvPr/>
            </p:nvSpPr>
            <p:spPr>
              <a:xfrm>
                <a:off x="457200" y="57150"/>
                <a:ext cx="3429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166534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Browse Hyper-Local Marketplace</a:t>
                </a:r>
                <a:endParaRPr b="0" sz="1000">
                  <a:solidFill>
                    <a:srgbClr val="166534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Access localized product listings &amp; availability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212" name="Google Shape;212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90725" y="800100"/>
              <a:ext cx="19200" cy="76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3" name="Google Shape;213;p17"/>
            <p:cNvGrpSpPr/>
            <p:nvPr/>
          </p:nvGrpSpPr>
          <p:grpSpPr>
            <a:xfrm>
              <a:off x="-109537" y="866775"/>
              <a:ext cx="4219500" cy="514500"/>
              <a:chOff x="-109537" y="-9525"/>
              <a:chExt cx="4219500" cy="514500"/>
            </a:xfrm>
          </p:grpSpPr>
          <p:pic>
            <p:nvPicPr>
              <p:cNvPr id="214" name="Google Shape;214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109537" y="-9525"/>
                <a:ext cx="4219500" cy="51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5" name="Google Shape;215;p17"/>
              <p:cNvSpPr/>
              <p:nvPr/>
            </p:nvSpPr>
            <p:spPr>
              <a:xfrm>
                <a:off x="114300" y="114300"/>
                <a:ext cx="228600" cy="228600"/>
              </a:xfrm>
              <a:prstGeom prst="ellipse">
                <a:avLst/>
              </a:prstGeom>
              <a:solidFill>
                <a:srgbClr val="1665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7"/>
              <p:cNvSpPr txBox="1"/>
              <p:nvPr/>
            </p:nvSpPr>
            <p:spPr>
              <a:xfrm>
                <a:off x="114300" y="11430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02</a:t>
                </a:r>
                <a:endParaRPr b="0" sz="11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sp>
            <p:nvSpPr>
              <p:cNvPr id="217" name="Google Shape;217;p17"/>
              <p:cNvSpPr txBox="1"/>
              <p:nvPr/>
            </p:nvSpPr>
            <p:spPr>
              <a:xfrm>
                <a:off x="457200" y="57150"/>
                <a:ext cx="3429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166534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Compare Products &amp; Prices</a:t>
                </a:r>
                <a:endParaRPr b="0" sz="1000">
                  <a:solidFill>
                    <a:srgbClr val="166534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Evaluate verified vendors, select items to cart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18" name="Google Shape;218;p17"/>
            <p:cNvSpPr/>
            <p:nvPr/>
          </p:nvSpPr>
          <p:spPr>
            <a:xfrm>
              <a:off x="2000250" y="1333500"/>
              <a:ext cx="0" cy="762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17"/>
            <p:cNvGrpSpPr/>
            <p:nvPr/>
          </p:nvGrpSpPr>
          <p:grpSpPr>
            <a:xfrm>
              <a:off x="-114300" y="1395413"/>
              <a:ext cx="4229100" cy="557100"/>
              <a:chOff x="-114300" y="-14287"/>
              <a:chExt cx="4229100" cy="557100"/>
            </a:xfrm>
          </p:grpSpPr>
          <p:pic>
            <p:nvPicPr>
              <p:cNvPr id="220" name="Google Shape;220;p1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-114300" y="-14287"/>
                <a:ext cx="4229100" cy="55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1" name="Google Shape;221;p17"/>
              <p:cNvSpPr/>
              <p:nvPr/>
            </p:nvSpPr>
            <p:spPr>
              <a:xfrm>
                <a:off x="114300" y="133350"/>
                <a:ext cx="228600" cy="228600"/>
              </a:xfrm>
              <a:prstGeom prst="ellipse">
                <a:avLst/>
              </a:prstGeom>
              <a:solidFill>
                <a:srgbClr val="1665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 txBox="1"/>
              <p:nvPr/>
            </p:nvSpPr>
            <p:spPr>
              <a:xfrm>
                <a:off x="114300" y="13335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03</a:t>
                </a:r>
                <a:endParaRPr b="0" sz="11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sp>
            <p:nvSpPr>
              <p:cNvPr id="223" name="Google Shape;223;p17"/>
              <p:cNvSpPr txBox="1"/>
              <p:nvPr/>
            </p:nvSpPr>
            <p:spPr>
              <a:xfrm>
                <a:off x="457200" y="66675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166534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Checkout &amp; Payment Choice</a:t>
                </a:r>
                <a:endParaRPr b="0" sz="1000">
                  <a:solidFill>
                    <a:srgbClr val="166534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Direct payment OR digital credit line facility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24" name="Google Shape;224;p17"/>
          <p:cNvGrpSpPr/>
          <p:nvPr/>
        </p:nvGrpSpPr>
        <p:grpSpPr>
          <a:xfrm>
            <a:off x="4572000" y="1828800"/>
            <a:ext cx="4229100" cy="1952513"/>
            <a:chOff x="-114300" y="0"/>
            <a:chExt cx="4229100" cy="1952513"/>
          </a:xfrm>
        </p:grpSpPr>
        <p:sp>
          <p:nvSpPr>
            <p:cNvPr id="225" name="Google Shape;225;p17"/>
            <p:cNvSpPr/>
            <p:nvPr/>
          </p:nvSpPr>
          <p:spPr>
            <a:xfrm>
              <a:off x="0" y="0"/>
              <a:ext cx="4000500" cy="266700"/>
            </a:xfrm>
            <a:prstGeom prst="roundRect">
              <a:avLst>
                <a:gd fmla="val 2142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7"/>
            <p:cNvSpPr txBox="1"/>
            <p:nvPr/>
          </p:nvSpPr>
          <p:spPr>
            <a:xfrm>
              <a:off x="114300" y="0"/>
              <a:ext cx="3771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VENDOR WORKFLOW (SUPPLY SIDE)</a:t>
              </a:r>
              <a:endParaRPr b="0" sz="9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27" name="Google Shape;227;p17"/>
            <p:cNvGrpSpPr/>
            <p:nvPr/>
          </p:nvGrpSpPr>
          <p:grpSpPr>
            <a:xfrm>
              <a:off x="-109537" y="333375"/>
              <a:ext cx="4219500" cy="514500"/>
              <a:chOff x="-109537" y="-9525"/>
              <a:chExt cx="4219500" cy="514500"/>
            </a:xfrm>
          </p:grpSpPr>
          <p:pic>
            <p:nvPicPr>
              <p:cNvPr id="228" name="Google Shape;228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109537" y="-9525"/>
                <a:ext cx="4219500" cy="51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p17"/>
              <p:cNvSpPr/>
              <p:nvPr/>
            </p:nvSpPr>
            <p:spPr>
              <a:xfrm>
                <a:off x="114300" y="114300"/>
                <a:ext cx="228600" cy="2286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7"/>
              <p:cNvSpPr txBox="1"/>
              <p:nvPr/>
            </p:nvSpPr>
            <p:spPr>
              <a:xfrm>
                <a:off x="114300" y="11430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01</a:t>
                </a:r>
                <a:endParaRPr b="0" sz="11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sp>
            <p:nvSpPr>
              <p:cNvPr id="231" name="Google Shape;231;p17"/>
              <p:cNvSpPr txBox="1"/>
              <p:nvPr/>
            </p:nvSpPr>
            <p:spPr>
              <a:xfrm>
                <a:off x="457200" y="57150"/>
                <a:ext cx="3429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0F172A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Product &amp; Catalog Management</a:t>
                </a:r>
                <a:endParaRPr b="0" sz="100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Set pricing, product details &amp; store parameters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32" name="Google Shape;232;p17"/>
            <p:cNvSpPr/>
            <p:nvPr/>
          </p:nvSpPr>
          <p:spPr>
            <a:xfrm>
              <a:off x="2000250" y="800100"/>
              <a:ext cx="0" cy="762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3" name="Google Shape;233;p17"/>
            <p:cNvGrpSpPr/>
            <p:nvPr/>
          </p:nvGrpSpPr>
          <p:grpSpPr>
            <a:xfrm>
              <a:off x="-109537" y="866775"/>
              <a:ext cx="4219500" cy="514500"/>
              <a:chOff x="-109537" y="-9525"/>
              <a:chExt cx="4219500" cy="514500"/>
            </a:xfrm>
          </p:grpSpPr>
          <p:pic>
            <p:nvPicPr>
              <p:cNvPr id="234" name="Google Shape;234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109537" y="-9525"/>
                <a:ext cx="4219500" cy="51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5" name="Google Shape;235;p17"/>
              <p:cNvSpPr/>
              <p:nvPr/>
            </p:nvSpPr>
            <p:spPr>
              <a:xfrm>
                <a:off x="114300" y="114300"/>
                <a:ext cx="228600" cy="2286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7"/>
              <p:cNvSpPr txBox="1"/>
              <p:nvPr/>
            </p:nvSpPr>
            <p:spPr>
              <a:xfrm>
                <a:off x="114300" y="11430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02</a:t>
                </a:r>
                <a:endParaRPr b="0" sz="11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sp>
            <p:nvSpPr>
              <p:cNvPr id="237" name="Google Shape;237;p17"/>
              <p:cNvSpPr txBox="1"/>
              <p:nvPr/>
            </p:nvSpPr>
            <p:spPr>
              <a:xfrm>
                <a:off x="457200" y="57150"/>
                <a:ext cx="3429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0F172A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Real-Time Stock Updates</a:t>
                </a:r>
                <a:endParaRPr b="0" sz="100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Maintain accurate inventory levels across store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38" name="Google Shape;238;p17"/>
            <p:cNvSpPr/>
            <p:nvPr/>
          </p:nvSpPr>
          <p:spPr>
            <a:xfrm>
              <a:off x="2000250" y="1333500"/>
              <a:ext cx="0" cy="762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" name="Google Shape;239;p17"/>
            <p:cNvGrpSpPr/>
            <p:nvPr/>
          </p:nvGrpSpPr>
          <p:grpSpPr>
            <a:xfrm>
              <a:off x="-114300" y="1395413"/>
              <a:ext cx="4229100" cy="557100"/>
              <a:chOff x="-114300" y="-14287"/>
              <a:chExt cx="4229100" cy="557100"/>
            </a:xfrm>
          </p:grpSpPr>
          <p:pic>
            <p:nvPicPr>
              <p:cNvPr id="240" name="Google Shape;240;p1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114300" y="-14287"/>
                <a:ext cx="4229100" cy="55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1" name="Google Shape;241;p17"/>
              <p:cNvSpPr/>
              <p:nvPr/>
            </p:nvSpPr>
            <p:spPr>
              <a:xfrm>
                <a:off x="114300" y="133350"/>
                <a:ext cx="228600" cy="2286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7"/>
              <p:cNvSpPr txBox="1"/>
              <p:nvPr/>
            </p:nvSpPr>
            <p:spPr>
              <a:xfrm>
                <a:off x="114300" y="13335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03</a:t>
                </a:r>
                <a:endParaRPr b="0" sz="11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sp>
            <p:nvSpPr>
              <p:cNvPr id="243" name="Google Shape;243;p17"/>
              <p:cNvSpPr txBox="1"/>
              <p:nvPr/>
            </p:nvSpPr>
            <p:spPr>
              <a:xfrm>
                <a:off x="457200" y="66675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0F172A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Order &amp; Ledger Oversight</a:t>
                </a:r>
                <a:endParaRPr b="0" sz="100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Fulfill orders &amp; track customer financial balances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44" name="Google Shape;244;p17"/>
          <p:cNvSpPr/>
          <p:nvPr/>
        </p:nvSpPr>
        <p:spPr>
          <a:xfrm>
            <a:off x="2476500" y="3733800"/>
            <a:ext cx="1143000" cy="26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77143"/>
                </a:lnTo>
                <a:cubicBezTo>
                  <a:pt x="0" y="120000"/>
                  <a:pt x="60000" y="120000"/>
                  <a:pt x="120000" y="120000"/>
                </a:cubicBez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5524500" y="3733800"/>
            <a:ext cx="1143000" cy="266700"/>
          </a:xfrm>
          <a:custGeom>
            <a:rect b="b" l="l" r="r" t="t"/>
            <a:pathLst>
              <a:path extrusionOk="0" h="120000" w="120000">
                <a:moveTo>
                  <a:pt x="120000" y="0"/>
                </a:moveTo>
                <a:lnTo>
                  <a:pt x="120000" y="77143"/>
                </a:lnTo>
                <a:cubicBezTo>
                  <a:pt x="120000" y="120000"/>
                  <a:pt x="60000" y="120000"/>
                  <a:pt x="0" y="120000"/>
                </a:cubicBez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6" name="Google Shape;246;p17"/>
          <p:cNvGrpSpPr/>
          <p:nvPr/>
        </p:nvGrpSpPr>
        <p:grpSpPr>
          <a:xfrm>
            <a:off x="352425" y="3990975"/>
            <a:ext cx="8439300" cy="947700"/>
            <a:chOff x="-104775" y="-47625"/>
            <a:chExt cx="8439300" cy="947700"/>
          </a:xfrm>
        </p:grpSpPr>
        <p:pic>
          <p:nvPicPr>
            <p:cNvPr id="247" name="Google Shape;247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104775" y="-47625"/>
              <a:ext cx="8439300" cy="9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17"/>
            <p:cNvSpPr/>
            <p:nvPr/>
          </p:nvSpPr>
          <p:spPr>
            <a:xfrm>
              <a:off x="0" y="0"/>
              <a:ext cx="1143000" cy="819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2C55E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7086600" y="0"/>
              <a:ext cx="1143000" cy="8193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22C55E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 txBox="1"/>
            <p:nvPr/>
          </p:nvSpPr>
          <p:spPr>
            <a:xfrm>
              <a:off x="228600" y="95250"/>
              <a:ext cx="7772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A9DFB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INTEGRATED CONTINUOUS FEEDBACK LOOP</a:t>
              </a:r>
              <a:endParaRPr b="0" sz="850">
                <a:solidFill>
                  <a:srgbClr val="A9DFB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Connects </a:t>
              </a:r>
              <a:r>
                <a:rPr b="1" lang="en-GB" sz="1000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Marketplace Activity</a:t>
              </a:r>
              <a:r>
                <a:rPr b="0" lang="en-GB" sz="10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directly with </a:t>
              </a:r>
              <a:r>
                <a:rPr b="1" lang="en-GB" sz="1000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Inventory Tracking</a:t>
              </a:r>
              <a:r>
                <a:rPr b="0" lang="en-GB" sz="10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Instant </a:t>
              </a:r>
              <a:r>
                <a:rPr b="1" lang="en-GB" sz="1000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Payment Processing</a:t>
              </a:r>
              <a:r>
                <a:rPr b="0" lang="en-GB" sz="10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Auto </a:t>
              </a:r>
              <a:r>
                <a:rPr b="1" lang="en-GB" sz="1000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Digital Invoice Generation</a:t>
              </a:r>
              <a:r>
                <a:rPr b="0" lang="en-GB" sz="10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and Synchronized Credit Records (</a:t>
              </a:r>
              <a:r>
                <a:rPr b="1" lang="en-GB" sz="1000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Bahi-Khata</a:t>
              </a:r>
              <a:r>
                <a:rPr b="0" lang="en-GB" sz="10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).</a:t>
              </a:r>
              <a:endParaRPr b="0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6" name="Google Shape;256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B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" name="Google Shape;257;p18"/>
            <p:cNvGrpSpPr/>
            <p:nvPr/>
          </p:nvGrpSpPr>
          <p:grpSpPr>
            <a:xfrm>
              <a:off x="457200" y="190500"/>
              <a:ext cx="2240400" cy="350520"/>
              <a:chOff x="0" y="0"/>
              <a:chExt cx="2800500" cy="438150"/>
            </a:xfrm>
          </p:grpSpPr>
          <p:sp>
            <p:nvSpPr>
              <p:cNvPr id="258" name="Google Shape;258;p18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36000" y="36000"/>
                    </a:moveTo>
                    <a:cubicBezTo>
                      <a:pt x="36000" y="36000"/>
                      <a:pt x="72000" y="0"/>
                      <a:pt x="96000" y="24000"/>
                    </a:cubicBezTo>
                    <a:cubicBezTo>
                      <a:pt x="120000" y="48000"/>
                      <a:pt x="84000" y="84000"/>
                      <a:pt x="84000" y="84000"/>
                    </a:cubicBezTo>
                    <a:cubicBezTo>
                      <a:pt x="84000" y="84000"/>
                      <a:pt x="48000" y="120000"/>
                      <a:pt x="24000" y="96000"/>
                    </a:cubicBezTo>
                    <a:cubicBezTo>
                      <a:pt x="0" y="72000"/>
                      <a:pt x="36000" y="36000"/>
                      <a:pt x="36000" y="36000"/>
                    </a:cubicBezTo>
                    <a:close/>
                  </a:path>
                </a:pathLst>
              </a:custGeom>
              <a:solidFill>
                <a:srgbClr val="16653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114300" y="114300"/>
                <a:ext cx="152400" cy="152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8"/>
              <p:cNvSpPr txBox="1"/>
              <p:nvPr/>
            </p:nvSpPr>
            <p:spPr>
              <a:xfrm>
                <a:off x="419100" y="57150"/>
                <a:ext cx="2381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90">
                    <a:solidFill>
                      <a:srgbClr val="0F172A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JAYMANI</a:t>
                </a:r>
                <a:endParaRPr b="0" sz="119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KRISHI SEWA</a:t>
                </a:r>
                <a:endParaRPr b="0" sz="765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cxnSp>
          <p:nvCxnSpPr>
            <p:cNvPr id="262" name="Google Shape;262;p18"/>
            <p:cNvCxnSpPr/>
            <p:nvPr/>
          </p:nvCxnSpPr>
          <p:spPr>
            <a:xfrm>
              <a:off x="457200" y="6477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3" name="Google Shape;263;p18"/>
            <p:cNvSpPr/>
            <p:nvPr/>
          </p:nvSpPr>
          <p:spPr>
            <a:xfrm>
              <a:off x="0" y="5105400"/>
              <a:ext cx="9144000" cy="38100"/>
            </a:xfrm>
            <a:prstGeom prst="rect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18"/>
          <p:cNvGrpSpPr/>
          <p:nvPr/>
        </p:nvGrpSpPr>
        <p:grpSpPr>
          <a:xfrm>
            <a:off x="457200" y="762000"/>
            <a:ext cx="8229600" cy="647700"/>
            <a:chOff x="0" y="0"/>
            <a:chExt cx="8229600" cy="647700"/>
          </a:xfrm>
        </p:grpSpPr>
        <p:sp>
          <p:nvSpPr>
            <p:cNvPr id="265" name="Google Shape;265;p18"/>
            <p:cNvSpPr/>
            <p:nvPr/>
          </p:nvSpPr>
          <p:spPr>
            <a:xfrm>
              <a:off x="0" y="0"/>
              <a:ext cx="1571700" cy="209700"/>
            </a:xfrm>
            <a:prstGeom prst="roundRect">
              <a:avLst>
                <a:gd fmla="val 18181" name="adj"/>
              </a:avLst>
            </a:prstGeom>
            <a:solidFill>
              <a:srgbClr val="E6F4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8"/>
            <p:cNvSpPr txBox="1"/>
            <p:nvPr/>
          </p:nvSpPr>
          <p:spPr>
            <a:xfrm>
              <a:off x="76200" y="19050"/>
              <a:ext cx="1428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86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PO5 | LITERATURE SURVEY</a:t>
              </a:r>
              <a:endParaRPr b="0" sz="786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67" name="Google Shape;267;p18"/>
            <p:cNvSpPr txBox="1"/>
            <p:nvPr/>
          </p:nvSpPr>
          <p:spPr>
            <a:xfrm>
              <a:off x="0" y="2667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3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Unlike existing solutions that focus on broad ecosystems, Jaymani targets the specific gap in </a:t>
              </a:r>
              <a:r>
                <a:rPr b="1" lang="en-GB" sz="1203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hyper-local retail</a:t>
              </a:r>
              <a:r>
                <a:rPr b="0" lang="en-GB" sz="1203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 and </a:t>
              </a:r>
              <a:r>
                <a:rPr b="1" lang="en-GB" sz="1203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integrated digital ledgers</a:t>
              </a:r>
              <a:r>
                <a:rPr b="0" lang="en-GB" sz="1203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.</a:t>
              </a:r>
              <a:endParaRPr b="0" sz="1203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</p:txBody>
        </p:sp>
      </p:grpSp>
      <p:grpSp>
        <p:nvGrpSpPr>
          <p:cNvPr id="268" name="Google Shape;268;p18"/>
          <p:cNvGrpSpPr/>
          <p:nvPr/>
        </p:nvGrpSpPr>
        <p:grpSpPr>
          <a:xfrm>
            <a:off x="457200" y="1476375"/>
            <a:ext cx="4895700" cy="266700"/>
            <a:chOff x="0" y="0"/>
            <a:chExt cx="4895700" cy="266700"/>
          </a:xfrm>
        </p:grpSpPr>
        <p:sp>
          <p:nvSpPr>
            <p:cNvPr id="269" name="Google Shape;269;p18"/>
            <p:cNvSpPr/>
            <p:nvPr/>
          </p:nvSpPr>
          <p:spPr>
            <a:xfrm>
              <a:off x="0" y="0"/>
              <a:ext cx="1047900" cy="266700"/>
            </a:xfrm>
            <a:prstGeom prst="roundRect">
              <a:avLst>
                <a:gd fmla="val 14285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 txBox="1"/>
            <p:nvPr/>
          </p:nvSpPr>
          <p:spPr>
            <a:xfrm>
              <a:off x="114300" y="47625"/>
              <a:ext cx="8193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620" u="none" strike="noStrike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EXISTING SOLUTION</a:t>
              </a:r>
              <a:endParaRPr b="0" i="0" sz="620" u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1428750" y="0"/>
              <a:ext cx="1714500" cy="266700"/>
            </a:xfrm>
            <a:prstGeom prst="roundRect">
              <a:avLst>
                <a:gd fmla="val 14285" name="adj"/>
              </a:avLst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8"/>
            <p:cNvSpPr txBox="1"/>
            <p:nvPr/>
          </p:nvSpPr>
          <p:spPr>
            <a:xfrm>
              <a:off x="1543050" y="47625"/>
              <a:ext cx="14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strike="noStrike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PRIMARY FOCUS &amp; GAP</a:t>
              </a:r>
              <a:endParaRPr b="0" i="0" sz="800" u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3086100" y="0"/>
              <a:ext cx="1809600" cy="266700"/>
            </a:xfrm>
            <a:prstGeom prst="roundRect">
              <a:avLst>
                <a:gd fmla="val 14285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8"/>
            <p:cNvSpPr txBox="1"/>
            <p:nvPr/>
          </p:nvSpPr>
          <p:spPr>
            <a:xfrm>
              <a:off x="3200400" y="47625"/>
              <a:ext cx="15813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680" u="none" strike="noStrike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JAYMANI KRISHI SEWA APPROACH</a:t>
              </a:r>
              <a:endParaRPr b="0" i="0" sz="680" u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75" name="Google Shape;275;p18"/>
          <p:cNvGrpSpPr/>
          <p:nvPr/>
        </p:nvGrpSpPr>
        <p:grpSpPr>
          <a:xfrm>
            <a:off x="457200" y="1790700"/>
            <a:ext cx="4895700" cy="705000"/>
            <a:chOff x="0" y="0"/>
            <a:chExt cx="4895700" cy="705000"/>
          </a:xfrm>
        </p:grpSpPr>
        <p:sp>
          <p:nvSpPr>
            <p:cNvPr id="276" name="Google Shape;276;p18"/>
            <p:cNvSpPr/>
            <p:nvPr/>
          </p:nvSpPr>
          <p:spPr>
            <a:xfrm>
              <a:off x="0" y="0"/>
              <a:ext cx="1047900" cy="705000"/>
            </a:xfrm>
            <a:prstGeom prst="roundRect">
              <a:avLst>
                <a:gd fmla="val 810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8"/>
            <p:cNvSpPr txBox="1"/>
            <p:nvPr/>
          </p:nvSpPr>
          <p:spPr>
            <a:xfrm>
              <a:off x="114300" y="76200"/>
              <a:ext cx="8193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5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eNAM</a:t>
              </a:r>
              <a:endParaRPr b="1" i="0" sz="10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1428750" y="0"/>
              <a:ext cx="1714500" cy="705000"/>
            </a:xfrm>
            <a:prstGeom prst="roundRect">
              <a:avLst>
                <a:gd fmla="val 810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8"/>
            <p:cNvSpPr txBox="1"/>
            <p:nvPr/>
          </p:nvSpPr>
          <p:spPr>
            <a:xfrm>
              <a:off x="1524000" y="76200"/>
              <a:ext cx="15240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33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Focuses on national electronic wholesale markets; leaves local retail inventory and credit outside scope.</a:t>
              </a:r>
              <a:endParaRPr b="0" i="0" sz="833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3086100" y="0"/>
              <a:ext cx="1809600" cy="705000"/>
            </a:xfrm>
            <a:prstGeom prst="roundRect">
              <a:avLst>
                <a:gd fmla="val 8107" name="adj"/>
              </a:avLst>
            </a:prstGeom>
            <a:solidFill>
              <a:srgbClr val="E6F4EA"/>
            </a:solidFill>
            <a:ln cap="flat" cmpd="sng" w="9525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8"/>
            <p:cNvSpPr txBox="1"/>
            <p:nvPr/>
          </p:nvSpPr>
          <p:spPr>
            <a:xfrm>
              <a:off x="3181350" y="76200"/>
              <a:ext cx="16191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900" u="none" strike="noStrike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Enables hyper-local retailer discovery and real-time local stock visibility.</a:t>
              </a:r>
              <a:endParaRPr b="0" i="0" sz="900" u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82" name="Google Shape;282;p18"/>
          <p:cNvGrpSpPr/>
          <p:nvPr/>
        </p:nvGrpSpPr>
        <p:grpSpPr>
          <a:xfrm>
            <a:off x="457200" y="2552700"/>
            <a:ext cx="4895700" cy="705000"/>
            <a:chOff x="0" y="0"/>
            <a:chExt cx="4895700" cy="705000"/>
          </a:xfrm>
        </p:grpSpPr>
        <p:sp>
          <p:nvSpPr>
            <p:cNvPr id="283" name="Google Shape;283;p18"/>
            <p:cNvSpPr/>
            <p:nvPr/>
          </p:nvSpPr>
          <p:spPr>
            <a:xfrm>
              <a:off x="0" y="0"/>
              <a:ext cx="1047900" cy="705000"/>
            </a:xfrm>
            <a:prstGeom prst="roundRect">
              <a:avLst>
                <a:gd fmla="val 810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8"/>
            <p:cNvSpPr txBox="1"/>
            <p:nvPr/>
          </p:nvSpPr>
          <p:spPr>
            <a:xfrm>
              <a:off x="114300" y="76200"/>
              <a:ext cx="8193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5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Digital Green</a:t>
              </a:r>
              <a:endParaRPr b="1" i="0" sz="10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5" name="Google Shape;285;p18"/>
            <p:cNvSpPr/>
            <p:nvPr/>
          </p:nvSpPr>
          <p:spPr>
            <a:xfrm>
              <a:off x="1428750" y="0"/>
              <a:ext cx="1714500" cy="705000"/>
            </a:xfrm>
            <a:prstGeom prst="roundRect">
              <a:avLst>
                <a:gd fmla="val 810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8"/>
            <p:cNvSpPr txBox="1"/>
            <p:nvPr/>
          </p:nvSpPr>
          <p:spPr>
            <a:xfrm>
              <a:off x="1524000" y="76200"/>
              <a:ext cx="15240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90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Concentrates on farmer knowledge and digital extension; lacks local checkout &amp; ledger focus.</a:t>
              </a:r>
              <a:endParaRPr b="0" i="0" sz="90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3086100" y="0"/>
              <a:ext cx="1809600" cy="705000"/>
            </a:xfrm>
            <a:prstGeom prst="roundRect">
              <a:avLst>
                <a:gd fmla="val 8107" name="adj"/>
              </a:avLst>
            </a:prstGeom>
            <a:solidFill>
              <a:srgbClr val="E6F4EA"/>
            </a:solidFill>
            <a:ln cap="flat" cmpd="sng" w="9525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8"/>
            <p:cNvSpPr txBox="1"/>
            <p:nvPr/>
          </p:nvSpPr>
          <p:spPr>
            <a:xfrm>
              <a:off x="3181350" y="76200"/>
              <a:ext cx="16191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900" u="none" strike="noStrike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Integrates direct commerce and automated transaction records for local sales.</a:t>
              </a:r>
              <a:endParaRPr b="0" i="0" sz="900" u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89" name="Google Shape;289;p18"/>
          <p:cNvGrpSpPr/>
          <p:nvPr/>
        </p:nvGrpSpPr>
        <p:grpSpPr>
          <a:xfrm>
            <a:off x="457200" y="3314700"/>
            <a:ext cx="4895700" cy="705000"/>
            <a:chOff x="0" y="0"/>
            <a:chExt cx="4895700" cy="705000"/>
          </a:xfrm>
        </p:grpSpPr>
        <p:sp>
          <p:nvSpPr>
            <p:cNvPr id="290" name="Google Shape;290;p18"/>
            <p:cNvSpPr/>
            <p:nvPr/>
          </p:nvSpPr>
          <p:spPr>
            <a:xfrm>
              <a:off x="0" y="0"/>
              <a:ext cx="1047900" cy="705000"/>
            </a:xfrm>
            <a:prstGeom prst="roundRect">
              <a:avLst>
                <a:gd fmla="val 810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8"/>
            <p:cNvSpPr txBox="1"/>
            <p:nvPr/>
          </p:nvSpPr>
          <p:spPr>
            <a:xfrm>
              <a:off x="114300" y="76200"/>
              <a:ext cx="8193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5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DeHaat</a:t>
              </a:r>
              <a:endParaRPr b="1" i="0" sz="10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1428750" y="0"/>
              <a:ext cx="1714500" cy="705000"/>
            </a:xfrm>
            <a:prstGeom prst="roundRect">
              <a:avLst>
                <a:gd fmla="val 810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8"/>
            <p:cNvSpPr txBox="1"/>
            <p:nvPr/>
          </p:nvSpPr>
          <p:spPr>
            <a:xfrm>
              <a:off x="1524000" y="76200"/>
              <a:ext cx="15240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90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Broad centralized agri-input model; differs from independent vendor workflows.</a:t>
              </a:r>
              <a:endParaRPr b="0" i="0" sz="90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3086100" y="0"/>
              <a:ext cx="1809600" cy="705000"/>
            </a:xfrm>
            <a:prstGeom prst="roundRect">
              <a:avLst>
                <a:gd fmla="val 8107" name="adj"/>
              </a:avLst>
            </a:prstGeom>
            <a:solidFill>
              <a:srgbClr val="E6F4EA"/>
            </a:solidFill>
            <a:ln cap="flat" cmpd="sng" w="9525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8"/>
            <p:cNvSpPr txBox="1"/>
            <p:nvPr/>
          </p:nvSpPr>
          <p:spPr>
            <a:xfrm>
              <a:off x="3181350" y="76200"/>
              <a:ext cx="16191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900" u="none" strike="noStrike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Empowers independent, verified local retailers directly without centralization.</a:t>
              </a:r>
              <a:endParaRPr b="0" i="0" sz="900" u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457200" y="4076700"/>
            <a:ext cx="4895700" cy="705000"/>
            <a:chOff x="0" y="0"/>
            <a:chExt cx="4895700" cy="705000"/>
          </a:xfrm>
        </p:grpSpPr>
        <p:sp>
          <p:nvSpPr>
            <p:cNvPr id="297" name="Google Shape;297;p18"/>
            <p:cNvSpPr/>
            <p:nvPr/>
          </p:nvSpPr>
          <p:spPr>
            <a:xfrm>
              <a:off x="0" y="0"/>
              <a:ext cx="1047900" cy="705000"/>
            </a:xfrm>
            <a:prstGeom prst="roundRect">
              <a:avLst>
                <a:gd fmla="val 810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8"/>
            <p:cNvSpPr txBox="1"/>
            <p:nvPr/>
          </p:nvSpPr>
          <p:spPr>
            <a:xfrm>
              <a:off x="114300" y="76200"/>
              <a:ext cx="8193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5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Digital Bahi-Khata</a:t>
              </a:r>
              <a:endParaRPr b="1" i="0" sz="10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1428750" y="0"/>
              <a:ext cx="1714500" cy="705000"/>
            </a:xfrm>
            <a:prstGeom prst="roundRect">
              <a:avLst>
                <a:gd fmla="val 810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8"/>
            <p:cNvSpPr txBox="1"/>
            <p:nvPr/>
          </p:nvSpPr>
          <p:spPr>
            <a:xfrm>
              <a:off x="1524000" y="76200"/>
              <a:ext cx="15240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90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Standalone credit records without direct link to agricultural purchasing context.</a:t>
              </a:r>
              <a:endParaRPr b="0" i="0" sz="90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3086100" y="0"/>
              <a:ext cx="1809600" cy="705000"/>
            </a:xfrm>
            <a:prstGeom prst="roundRect">
              <a:avLst>
                <a:gd fmla="val 8107" name="adj"/>
              </a:avLst>
            </a:prstGeom>
            <a:solidFill>
              <a:srgbClr val="E6F4EA"/>
            </a:solidFill>
            <a:ln cap="flat" cmpd="sng" w="9525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8"/>
            <p:cNvSpPr txBox="1"/>
            <p:nvPr/>
          </p:nvSpPr>
          <p:spPr>
            <a:xfrm>
              <a:off x="3181350" y="76200"/>
              <a:ext cx="1619100" cy="5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900" u="none" strike="noStrike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Explicitly links Bahi-Khata credit logs with specific orders, invoices, and payments.</a:t>
              </a:r>
              <a:endParaRPr b="0" i="0" sz="900" u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03" name="Google Shape;303;p18"/>
          <p:cNvGrpSpPr/>
          <p:nvPr/>
        </p:nvGrpSpPr>
        <p:grpSpPr>
          <a:xfrm>
            <a:off x="5805488" y="1376363"/>
            <a:ext cx="3248100" cy="3581400"/>
            <a:chOff x="-138112" y="-100012"/>
            <a:chExt cx="3248100" cy="3581400"/>
          </a:xfrm>
        </p:grpSpPr>
        <p:pic>
          <p:nvPicPr>
            <p:cNvPr id="304" name="Google Shape;30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38112" y="-100012"/>
              <a:ext cx="3248100" cy="358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18"/>
            <p:cNvSpPr/>
            <p:nvPr/>
          </p:nvSpPr>
          <p:spPr>
            <a:xfrm>
              <a:off x="0" y="0"/>
              <a:ext cx="1143000" cy="1143000"/>
            </a:xfrm>
            <a:custGeom>
              <a:rect b="b" l="l" r="r" t="t"/>
              <a:pathLst>
                <a:path extrusionOk="0" h="120000" w="120000">
                  <a:moveTo>
                    <a:pt x="0" y="16000"/>
                  </a:moveTo>
                  <a:quadBezTo>
                    <a:pt x="0" y="0"/>
                    <a:pt x="16000" y="0"/>
                  </a:quadBez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8"/>
            <p:cNvSpPr txBox="1"/>
            <p:nvPr/>
          </p:nvSpPr>
          <p:spPr>
            <a:xfrm>
              <a:off x="228600" y="228600"/>
              <a:ext cx="2514600" cy="28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00" u="none" strike="noStrike">
                  <a:solidFill>
                    <a:srgbClr val="A9DFB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RESEARCH GAP IDENTIFIED</a:t>
              </a:r>
              <a:endParaRPr b="0" i="0" sz="1000" u="none" strike="noStrike">
                <a:solidFill>
                  <a:srgbClr val="A9DFB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0" lang="en-GB" sz="110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Existing solutions address individual, isolated parts of the agricultural ecosystem.</a:t>
              </a:r>
              <a:endParaRPr b="0" i="0" sz="1000" u="none" strike="noStrike">
                <a:solidFill>
                  <a:srgbClr val="A9DFB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-GB" sz="900" u="none" strike="noStrike">
                  <a:solidFill>
                    <a:srgbClr val="A9DFB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PROPOSED INNOVATION</a:t>
              </a:r>
              <a:endParaRPr b="0" i="0" sz="900" u="none" strike="noStrike">
                <a:solidFill>
                  <a:srgbClr val="A9DFB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i="0" lang="en-GB" sz="1150" u="none" strike="noStrik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 proposed project uniquely focuses on combining </a:t>
              </a:r>
              <a:r>
                <a:rPr b="1" i="0" lang="en-GB" sz="11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hyper-local retail discovery</a:t>
              </a:r>
              <a:r>
                <a:rPr b="0" i="0" lang="en-GB" sz="1150" u="none" strike="noStrik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b="1" i="0" lang="en-GB" sz="11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inventory visibility</a:t>
              </a:r>
              <a:r>
                <a:rPr b="0" i="0" lang="en-GB" sz="1150" u="none" strike="noStrik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b="1" i="0" lang="en-GB" sz="11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purchasing</a:t>
              </a:r>
              <a:r>
                <a:rPr b="0" i="0" lang="en-GB" sz="1150" u="none" strike="noStrik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and </a:t>
              </a:r>
              <a:r>
                <a:rPr b="1" i="0" lang="en-GB" sz="11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digital credit records</a:t>
              </a:r>
              <a:r>
                <a:rPr b="0" i="0" lang="en-GB" sz="1150" u="none" strike="noStrik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into a single, unified workflow.</a:t>
              </a:r>
              <a:endParaRPr b="0" i="0" sz="1000" u="none" strike="noStrike">
                <a:solidFill>
                  <a:srgbClr val="A9DFB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19"/>
          <p:cNvGrpSpPr/>
          <p:nvPr/>
        </p:nvGrpSpPr>
        <p:grpSpPr>
          <a:xfrm>
            <a:off x="457200" y="228600"/>
            <a:ext cx="2100375" cy="328613"/>
            <a:chOff x="0" y="0"/>
            <a:chExt cx="2800500" cy="438150"/>
          </a:xfrm>
        </p:grpSpPr>
        <p:sp>
          <p:nvSpPr>
            <p:cNvPr id="313" name="Google Shape;313;p19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36000" y="36000"/>
                  </a:moveTo>
                  <a:cubicBezTo>
                    <a:pt x="36000" y="36000"/>
                    <a:pt x="72000" y="0"/>
                    <a:pt x="96000" y="24000"/>
                  </a:cubicBezTo>
                  <a:cubicBezTo>
                    <a:pt x="120000" y="48000"/>
                    <a:pt x="84000" y="84000"/>
                    <a:pt x="84000" y="84000"/>
                  </a:cubicBezTo>
                  <a:cubicBezTo>
                    <a:pt x="84000" y="84000"/>
                    <a:pt x="48000" y="120000"/>
                    <a:pt x="24000" y="96000"/>
                  </a:cubicBezTo>
                  <a:cubicBezTo>
                    <a:pt x="0" y="72000"/>
                    <a:pt x="36000" y="36000"/>
                    <a:pt x="36000" y="36000"/>
                  </a:cubicBezTo>
                  <a:close/>
                </a:path>
              </a:pathLst>
            </a:custGeom>
            <a:solidFill>
              <a:srgbClr val="166534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114300" y="114300"/>
              <a:ext cx="152400" cy="1524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 txBox="1"/>
            <p:nvPr/>
          </p:nvSpPr>
          <p:spPr>
            <a:xfrm>
              <a:off x="419100" y="5715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85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JAYMANI</a:t>
              </a:r>
              <a:endParaRPr b="0" sz="1085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98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KRISHI SEWA</a:t>
              </a:r>
              <a:endParaRPr b="0" sz="698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17" name="Google Shape;317;p19"/>
          <p:cNvGrpSpPr/>
          <p:nvPr/>
        </p:nvGrpSpPr>
        <p:grpSpPr>
          <a:xfrm>
            <a:off x="6972300" y="209550"/>
            <a:ext cx="1714500" cy="247800"/>
            <a:chOff x="0" y="0"/>
            <a:chExt cx="1714500" cy="247800"/>
          </a:xfrm>
        </p:grpSpPr>
        <p:sp>
          <p:nvSpPr>
            <p:cNvPr id="318" name="Google Shape;318;p19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E6F4EA"/>
            </a:solidFill>
            <a:ln cap="flat" cmpd="sng" w="9525">
              <a:solidFill>
                <a:srgbClr val="1665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9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PO2 | FEASIBILITY</a:t>
              </a:r>
              <a:endParaRPr b="1" sz="85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320" name="Google Shape;320;p19"/>
          <p:cNvCxnSpPr/>
          <p:nvPr/>
        </p:nvCxnSpPr>
        <p:spPr>
          <a:xfrm>
            <a:off x="457200" y="5524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9"/>
          <p:cNvSpPr txBox="1"/>
          <p:nvPr/>
        </p:nvSpPr>
        <p:spPr>
          <a:xfrm>
            <a:off x="457200" y="6477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6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proposed platform is technically, economically, and operationally viable through a phased development approach.</a:t>
            </a:r>
            <a:endParaRPr b="1" sz="136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project has been rigorously evaluated across a 4-part feasibility matrix to ensure realistic development and deployment.</a:t>
            </a:r>
            <a:endParaRPr b="0" sz="808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2" name="Google Shape;322;p19"/>
          <p:cNvGrpSpPr/>
          <p:nvPr/>
        </p:nvGrpSpPr>
        <p:grpSpPr>
          <a:xfrm>
            <a:off x="314325" y="1209675"/>
            <a:ext cx="4286400" cy="1695600"/>
            <a:chOff x="-142875" y="-104775"/>
            <a:chExt cx="4286400" cy="1695600"/>
          </a:xfrm>
        </p:grpSpPr>
        <p:pic>
          <p:nvPicPr>
            <p:cNvPr id="323" name="Google Shape;32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42875" y="-104775"/>
              <a:ext cx="4286400" cy="16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19"/>
            <p:cNvSpPr/>
            <p:nvPr/>
          </p:nvSpPr>
          <p:spPr>
            <a:xfrm>
              <a:off x="0" y="0"/>
              <a:ext cx="57300" cy="14478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9"/>
            <p:cNvSpPr txBox="1"/>
            <p:nvPr/>
          </p:nvSpPr>
          <p:spPr>
            <a:xfrm>
              <a:off x="190500" y="152400"/>
              <a:ext cx="3657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166534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01. Technical Feasibility</a:t>
              </a:r>
              <a:endParaRPr b="0" sz="1200">
                <a:solidFill>
                  <a:srgbClr val="16653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architecture utilizes a robust, familiar technology stack including HTML, CSS, JavaScript, Python Flask, MySQL, SQLAlchemy, Redis, and Docker, ensuring reliable performance and maintainability.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6" name="Google Shape;326;p19"/>
          <p:cNvGrpSpPr/>
          <p:nvPr/>
        </p:nvGrpSpPr>
        <p:grpSpPr>
          <a:xfrm>
            <a:off x="4543425" y="1209675"/>
            <a:ext cx="4286400" cy="1695600"/>
            <a:chOff x="-142875" y="-104775"/>
            <a:chExt cx="4286400" cy="1695600"/>
          </a:xfrm>
        </p:grpSpPr>
        <p:pic>
          <p:nvPicPr>
            <p:cNvPr id="327" name="Google Shape;327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42875" y="-104775"/>
              <a:ext cx="4286400" cy="16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19"/>
            <p:cNvSpPr/>
            <p:nvPr/>
          </p:nvSpPr>
          <p:spPr>
            <a:xfrm>
              <a:off x="0" y="0"/>
              <a:ext cx="57300" cy="14478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9"/>
            <p:cNvSpPr txBox="1"/>
            <p:nvPr/>
          </p:nvSpPr>
          <p:spPr>
            <a:xfrm>
              <a:off x="190500" y="152400"/>
              <a:ext cx="3657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166534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02. Economic Feasibility</a:t>
              </a:r>
              <a:endParaRPr b="0" sz="1200">
                <a:solidFill>
                  <a:srgbClr val="16653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project employs a software-first architecture leveraging commonly available, open-source development tools and cloud infrastructure, keeping development costs highly manageable.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0" name="Google Shape;330;p19"/>
          <p:cNvGrpSpPr/>
          <p:nvPr/>
        </p:nvGrpSpPr>
        <p:grpSpPr>
          <a:xfrm>
            <a:off x="314325" y="2790825"/>
            <a:ext cx="4286400" cy="1695600"/>
            <a:chOff x="-142875" y="-104775"/>
            <a:chExt cx="4286400" cy="1695600"/>
          </a:xfrm>
        </p:grpSpPr>
        <p:pic>
          <p:nvPicPr>
            <p:cNvPr id="331" name="Google Shape;33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42875" y="-104775"/>
              <a:ext cx="4286400" cy="16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19"/>
            <p:cNvSpPr/>
            <p:nvPr/>
          </p:nvSpPr>
          <p:spPr>
            <a:xfrm>
              <a:off x="0" y="0"/>
              <a:ext cx="57300" cy="14478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9"/>
            <p:cNvSpPr txBox="1"/>
            <p:nvPr/>
          </p:nvSpPr>
          <p:spPr>
            <a:xfrm>
              <a:off x="190500" y="152400"/>
              <a:ext cx="3657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166534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03. Operational Feasibility</a:t>
              </a:r>
              <a:endParaRPr b="0" sz="1200">
                <a:solidFill>
                  <a:srgbClr val="16653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system is built around simple, intuitive role-based workflows specifically designed for the technical literacy levels of Farmers, Vendors, and system Admins.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4" name="Google Shape;334;p19"/>
          <p:cNvGrpSpPr/>
          <p:nvPr/>
        </p:nvGrpSpPr>
        <p:grpSpPr>
          <a:xfrm>
            <a:off x="4543425" y="2790825"/>
            <a:ext cx="4286400" cy="1695600"/>
            <a:chOff x="-142875" y="-104775"/>
            <a:chExt cx="4286400" cy="1695600"/>
          </a:xfrm>
        </p:grpSpPr>
        <p:pic>
          <p:nvPicPr>
            <p:cNvPr id="335" name="Google Shape;33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42875" y="-104775"/>
              <a:ext cx="4286400" cy="16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19"/>
            <p:cNvSpPr/>
            <p:nvPr/>
          </p:nvSpPr>
          <p:spPr>
            <a:xfrm>
              <a:off x="0" y="0"/>
              <a:ext cx="57300" cy="14478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9"/>
            <p:cNvSpPr txBox="1"/>
            <p:nvPr/>
          </p:nvSpPr>
          <p:spPr>
            <a:xfrm>
              <a:off x="190500" y="152400"/>
              <a:ext cx="3657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166534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04. Schedule Feasibility</a:t>
              </a:r>
              <a:endParaRPr b="0" sz="1200">
                <a:solidFill>
                  <a:srgbClr val="16653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Development is structured into a logical, phased pipeline: Research, Requirements, UI/UX, Backend, Frontend, Integration, Testing, and Deployment.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8" name="Google Shape;338;p19"/>
          <p:cNvGrpSpPr/>
          <p:nvPr/>
        </p:nvGrpSpPr>
        <p:grpSpPr>
          <a:xfrm>
            <a:off x="457200" y="4457700"/>
            <a:ext cx="8229600" cy="514500"/>
            <a:chOff x="0" y="0"/>
            <a:chExt cx="8229600" cy="51450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8229600" cy="514500"/>
            </a:xfrm>
            <a:prstGeom prst="roundRect">
              <a:avLst>
                <a:gd fmla="val 14814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0" y="0"/>
              <a:ext cx="571500" cy="514500"/>
            </a:xfrm>
            <a:custGeom>
              <a:rect b="b" l="l" r="r" t="t"/>
              <a:pathLst>
                <a:path extrusionOk="0" h="120000" w="120000">
                  <a:moveTo>
                    <a:pt x="0" y="17778"/>
                  </a:moveTo>
                  <a:quadBezTo>
                    <a:pt x="0" y="0"/>
                    <a:pt x="16000" y="0"/>
                  </a:quadBez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2C55E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9"/>
            <p:cNvSpPr txBox="1"/>
            <p:nvPr/>
          </p:nvSpPr>
          <p:spPr>
            <a:xfrm>
              <a:off x="228600" y="0"/>
              <a:ext cx="77724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A9DFB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FINAL VERDICT</a:t>
              </a:r>
              <a:endParaRPr b="0" sz="800">
                <a:solidFill>
                  <a:srgbClr val="A9DFB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 project is </a:t>
              </a:r>
              <a:r>
                <a:rPr b="1" lang="en-GB" sz="1000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technically achievable</a:t>
              </a:r>
              <a:r>
                <a:rPr b="0" lang="en-GB" sz="10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highly </a:t>
              </a:r>
              <a:r>
                <a:rPr b="1" lang="en-GB" sz="1000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practical</a:t>
              </a:r>
              <a:r>
                <a:rPr b="0" lang="en-GB" sz="10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for the target demographic, and </a:t>
              </a:r>
              <a:r>
                <a:rPr b="1" lang="en-GB" sz="1000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manageable</a:t>
              </a:r>
              <a:r>
                <a:rPr b="0" lang="en-GB" sz="10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within the academic timeline constraints.</a:t>
              </a:r>
              <a:endParaRPr b="0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342" name="Google Shape;342;p19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48" name="Google Shape;348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B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9" name="Google Shape;349;p20"/>
            <p:cNvGrpSpPr/>
            <p:nvPr/>
          </p:nvGrpSpPr>
          <p:grpSpPr>
            <a:xfrm>
              <a:off x="457200" y="304800"/>
              <a:ext cx="2240400" cy="350520"/>
              <a:chOff x="0" y="0"/>
              <a:chExt cx="2800500" cy="438150"/>
            </a:xfrm>
          </p:grpSpPr>
          <p:sp>
            <p:nvSpPr>
              <p:cNvPr id="350" name="Google Shape;350;p20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36000" y="36000"/>
                    </a:moveTo>
                    <a:cubicBezTo>
                      <a:pt x="36000" y="36000"/>
                      <a:pt x="72000" y="0"/>
                      <a:pt x="96000" y="24000"/>
                    </a:cubicBezTo>
                    <a:cubicBezTo>
                      <a:pt x="120000" y="48000"/>
                      <a:pt x="84000" y="84000"/>
                      <a:pt x="84000" y="84000"/>
                    </a:cubicBezTo>
                    <a:cubicBezTo>
                      <a:pt x="84000" y="84000"/>
                      <a:pt x="48000" y="120000"/>
                      <a:pt x="24000" y="96000"/>
                    </a:cubicBezTo>
                    <a:cubicBezTo>
                      <a:pt x="0" y="72000"/>
                      <a:pt x="36000" y="36000"/>
                      <a:pt x="36000" y="36000"/>
                    </a:cubicBezTo>
                    <a:close/>
                  </a:path>
                </a:pathLst>
              </a:custGeom>
              <a:solidFill>
                <a:srgbClr val="16653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114300" y="114300"/>
                <a:ext cx="152400" cy="152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0"/>
              <p:cNvSpPr txBox="1"/>
              <p:nvPr/>
            </p:nvSpPr>
            <p:spPr>
              <a:xfrm>
                <a:off x="419100" y="57150"/>
                <a:ext cx="2381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90">
                    <a:solidFill>
                      <a:srgbClr val="0F172A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JAYMANI</a:t>
                </a:r>
                <a:endParaRPr b="0" sz="119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KRISHI SEWA</a:t>
                </a:r>
                <a:endParaRPr b="0" sz="765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cxnSp>
          <p:nvCxnSpPr>
            <p:cNvPr id="354" name="Google Shape;354;p20"/>
            <p:cNvCxnSpPr/>
            <p:nvPr/>
          </p:nvCxnSpPr>
          <p:spPr>
            <a:xfrm>
              <a:off x="457200" y="8572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5" name="Google Shape;355;p20"/>
            <p:cNvSpPr/>
            <p:nvPr/>
          </p:nvSpPr>
          <p:spPr>
            <a:xfrm>
              <a:off x="0" y="5105400"/>
              <a:ext cx="9144000" cy="38100"/>
            </a:xfrm>
            <a:prstGeom prst="rect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" name="Google Shape;356;p20"/>
          <p:cNvGrpSpPr/>
          <p:nvPr/>
        </p:nvGrpSpPr>
        <p:grpSpPr>
          <a:xfrm>
            <a:off x="3314700" y="381000"/>
            <a:ext cx="1905000" cy="247800"/>
            <a:chOff x="2857500" y="0"/>
            <a:chExt cx="1905000" cy="247800"/>
          </a:xfrm>
        </p:grpSpPr>
        <p:sp>
          <p:nvSpPr>
            <p:cNvPr id="357" name="Google Shape;357;p20"/>
            <p:cNvSpPr/>
            <p:nvPr/>
          </p:nvSpPr>
          <p:spPr>
            <a:xfrm>
              <a:off x="2857500" y="0"/>
              <a:ext cx="1905000" cy="247800"/>
            </a:xfrm>
            <a:prstGeom prst="roundRect">
              <a:avLst>
                <a:gd fmla="val 50000" name="adj"/>
              </a:avLst>
            </a:prstGeom>
            <a:solidFill>
              <a:srgbClr val="E6F4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0"/>
            <p:cNvSpPr txBox="1"/>
            <p:nvPr/>
          </p:nvSpPr>
          <p:spPr>
            <a:xfrm>
              <a:off x="2857500" y="0"/>
              <a:ext cx="1905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PO2 | TECHNICAL ARCHITECTURE</a:t>
              </a:r>
              <a:endParaRPr b="0" sz="85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59" name="Google Shape;359;p20"/>
          <p:cNvSpPr txBox="1"/>
          <p:nvPr/>
        </p:nvSpPr>
        <p:spPr>
          <a:xfrm>
            <a:off x="457200" y="971550"/>
            <a:ext cx="8229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robust, scalable architecture powered by Python Flask and MySQL supports seamless marketplace and inventory operations.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60" name="Google Shape;360;p20"/>
          <p:cNvGrpSpPr/>
          <p:nvPr/>
        </p:nvGrpSpPr>
        <p:grpSpPr>
          <a:xfrm>
            <a:off x="314325" y="1457325"/>
            <a:ext cx="5810400" cy="3314700"/>
            <a:chOff x="-142875" y="-19050"/>
            <a:chExt cx="5810400" cy="3314700"/>
          </a:xfrm>
        </p:grpSpPr>
        <p:grpSp>
          <p:nvGrpSpPr>
            <p:cNvPr id="361" name="Google Shape;361;p20"/>
            <p:cNvGrpSpPr/>
            <p:nvPr/>
          </p:nvGrpSpPr>
          <p:grpSpPr>
            <a:xfrm>
              <a:off x="-142875" y="-19050"/>
              <a:ext cx="5810400" cy="647700"/>
              <a:chOff x="-142875" y="-19050"/>
              <a:chExt cx="5810400" cy="647700"/>
            </a:xfrm>
          </p:grpSpPr>
          <p:pic>
            <p:nvPicPr>
              <p:cNvPr id="362" name="Google Shape;362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142875" y="-19050"/>
                <a:ext cx="5810400" cy="647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3" name="Google Shape;363;p20"/>
              <p:cNvSpPr/>
              <p:nvPr/>
            </p:nvSpPr>
            <p:spPr>
              <a:xfrm>
                <a:off x="0" y="0"/>
                <a:ext cx="573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0"/>
              <p:cNvSpPr txBox="1"/>
              <p:nvPr/>
            </p:nvSpPr>
            <p:spPr>
              <a:xfrm>
                <a:off x="152400" y="76200"/>
                <a:ext cx="152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25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USER LAYER</a:t>
                </a:r>
                <a:endParaRPr b="0" sz="925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33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Frontend UX (HTML/CSS/JS)</a:t>
                </a:r>
                <a:endParaRPr b="0" sz="833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365" name="Google Shape;365;p20"/>
              <p:cNvCxnSpPr/>
              <p:nvPr/>
            </p:nvCxnSpPr>
            <p:spPr>
              <a:xfrm>
                <a:off x="1714500" y="114300"/>
                <a:ext cx="0" cy="342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66" name="Google Shape;366;p20"/>
              <p:cNvSpPr/>
              <p:nvPr/>
            </p:nvSpPr>
            <p:spPr>
              <a:xfrm>
                <a:off x="1866900" y="142875"/>
                <a:ext cx="1047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0"/>
              <p:cNvSpPr txBox="1"/>
              <p:nvPr/>
            </p:nvSpPr>
            <p:spPr>
              <a:xfrm>
                <a:off x="1866900" y="142875"/>
                <a:ext cx="1047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Farmer Interface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68" name="Google Shape;368;p20"/>
              <p:cNvSpPr/>
              <p:nvPr/>
            </p:nvSpPr>
            <p:spPr>
              <a:xfrm>
                <a:off x="3028950" y="142875"/>
                <a:ext cx="1047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0"/>
              <p:cNvSpPr txBox="1"/>
              <p:nvPr/>
            </p:nvSpPr>
            <p:spPr>
              <a:xfrm>
                <a:off x="3028950" y="142875"/>
                <a:ext cx="1047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Vendor Interface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70" name="Google Shape;370;p20"/>
              <p:cNvSpPr/>
              <p:nvPr/>
            </p:nvSpPr>
            <p:spPr>
              <a:xfrm>
                <a:off x="4191000" y="142875"/>
                <a:ext cx="1047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0"/>
              <p:cNvSpPr txBox="1"/>
              <p:nvPr/>
            </p:nvSpPr>
            <p:spPr>
              <a:xfrm>
                <a:off x="4191000" y="142875"/>
                <a:ext cx="1047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Admin Interface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pic>
          <p:nvPicPr>
            <p:cNvPr id="372" name="Google Shape;37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2725" y="571500"/>
              <a:ext cx="19200" cy="85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3" name="Google Shape;373;p20"/>
            <p:cNvGrpSpPr/>
            <p:nvPr/>
          </p:nvGrpSpPr>
          <p:grpSpPr>
            <a:xfrm>
              <a:off x="-142875" y="647700"/>
              <a:ext cx="5810400" cy="647700"/>
              <a:chOff x="-142875" y="-19050"/>
              <a:chExt cx="5810400" cy="647700"/>
            </a:xfrm>
          </p:grpSpPr>
          <p:pic>
            <p:nvPicPr>
              <p:cNvPr id="374" name="Google Shape;374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142875" y="-19050"/>
                <a:ext cx="5810400" cy="647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5" name="Google Shape;375;p20"/>
              <p:cNvSpPr/>
              <p:nvPr/>
            </p:nvSpPr>
            <p:spPr>
              <a:xfrm>
                <a:off x="0" y="0"/>
                <a:ext cx="573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0"/>
              <p:cNvSpPr txBox="1"/>
              <p:nvPr/>
            </p:nvSpPr>
            <p:spPr>
              <a:xfrm>
                <a:off x="152400" y="76200"/>
                <a:ext cx="152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APPLICATION LAYER</a:t>
                </a:r>
                <a:endParaRPr b="0" sz="10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Core Business Logic</a:t>
                </a:r>
                <a:endParaRPr b="0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377" name="Google Shape;377;p20"/>
              <p:cNvCxnSpPr/>
              <p:nvPr/>
            </p:nvCxnSpPr>
            <p:spPr>
              <a:xfrm>
                <a:off x="1714500" y="114300"/>
                <a:ext cx="0" cy="342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78" name="Google Shape;378;p20"/>
              <p:cNvSpPr/>
              <p:nvPr/>
            </p:nvSpPr>
            <p:spPr>
              <a:xfrm>
                <a:off x="1828800" y="142875"/>
                <a:ext cx="8097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6F4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0"/>
              <p:cNvSpPr txBox="1"/>
              <p:nvPr/>
            </p:nvSpPr>
            <p:spPr>
              <a:xfrm>
                <a:off x="1828800" y="142875"/>
                <a:ext cx="8097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Marketplace</a:t>
                </a:r>
                <a:endParaRPr b="0" sz="9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>
                <a:off x="2695575" y="142875"/>
                <a:ext cx="9048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6F4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0"/>
              <p:cNvSpPr txBox="1"/>
              <p:nvPr/>
            </p:nvSpPr>
            <p:spPr>
              <a:xfrm>
                <a:off x="2695575" y="142875"/>
                <a:ext cx="904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Order Processing</a:t>
                </a:r>
                <a:endParaRPr b="0" sz="9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>
                <a:off x="3657600" y="142875"/>
                <a:ext cx="8097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6F4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0"/>
              <p:cNvSpPr txBox="1"/>
              <p:nvPr/>
            </p:nvSpPr>
            <p:spPr>
              <a:xfrm>
                <a:off x="3657600" y="142875"/>
                <a:ext cx="8097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Inventory</a:t>
                </a:r>
                <a:endParaRPr b="0" sz="9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>
                <a:off x="4524375" y="142875"/>
                <a:ext cx="885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6F4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0"/>
              <p:cNvSpPr txBox="1"/>
              <p:nvPr/>
            </p:nvSpPr>
            <p:spPr>
              <a:xfrm>
                <a:off x="4524375" y="142875"/>
                <a:ext cx="8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Digital Bahi-Khata</a:t>
                </a:r>
                <a:endParaRPr b="0" sz="9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pic>
          <p:nvPicPr>
            <p:cNvPr id="386" name="Google Shape;386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2725" y="1238250"/>
              <a:ext cx="19200" cy="85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7" name="Google Shape;387;p20"/>
            <p:cNvGrpSpPr/>
            <p:nvPr/>
          </p:nvGrpSpPr>
          <p:grpSpPr>
            <a:xfrm>
              <a:off x="-138112" y="1314450"/>
              <a:ext cx="5800800" cy="647700"/>
              <a:chOff x="-138112" y="-19050"/>
              <a:chExt cx="5800800" cy="647700"/>
            </a:xfrm>
          </p:grpSpPr>
          <p:pic>
            <p:nvPicPr>
              <p:cNvPr id="388" name="Google Shape;388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138112" y="-19050"/>
                <a:ext cx="5800800" cy="647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9" name="Google Shape;389;p20"/>
              <p:cNvSpPr txBox="1"/>
              <p:nvPr/>
            </p:nvSpPr>
            <p:spPr>
              <a:xfrm>
                <a:off x="190500" y="76200"/>
                <a:ext cx="152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22C55E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BACKEND LAYER</a:t>
                </a:r>
                <a:endParaRPr b="0" sz="1000">
                  <a:solidFill>
                    <a:srgbClr val="22C55E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API Routing &amp; Server Logic</a:t>
                </a:r>
                <a:endParaRPr b="0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390" name="Google Shape;390;p2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709738" y="114300"/>
                <a:ext cx="960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1" name="Google Shape;391;p20"/>
              <p:cNvSpPr txBox="1"/>
              <p:nvPr/>
            </p:nvSpPr>
            <p:spPr>
              <a:xfrm>
                <a:off x="1905000" y="9525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Python Flask Framework</a:t>
                </a:r>
                <a:endParaRPr b="0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Handles RESTful API endpoints &amp; core server operations</a:t>
                </a:r>
                <a:endParaRPr b="0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392" name="Google Shape;39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2725" y="1905000"/>
              <a:ext cx="19200" cy="85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3" name="Google Shape;393;p20"/>
            <p:cNvGrpSpPr/>
            <p:nvPr/>
          </p:nvGrpSpPr>
          <p:grpSpPr>
            <a:xfrm>
              <a:off x="-142875" y="1981200"/>
              <a:ext cx="5810400" cy="647700"/>
              <a:chOff x="-142875" y="-19050"/>
              <a:chExt cx="5810400" cy="647700"/>
            </a:xfrm>
          </p:grpSpPr>
          <p:pic>
            <p:nvPicPr>
              <p:cNvPr id="394" name="Google Shape;394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142875" y="-19050"/>
                <a:ext cx="5810400" cy="647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5" name="Google Shape;395;p20"/>
              <p:cNvSpPr/>
              <p:nvPr/>
            </p:nvSpPr>
            <p:spPr>
              <a:xfrm>
                <a:off x="0" y="0"/>
                <a:ext cx="573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1665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0"/>
              <p:cNvSpPr txBox="1"/>
              <p:nvPr/>
            </p:nvSpPr>
            <p:spPr>
              <a:xfrm>
                <a:off x="152400" y="76200"/>
                <a:ext cx="152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 ACCESS LAYER</a:t>
                </a:r>
                <a:endParaRPr b="0" sz="10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ORM Abstraction</a:t>
                </a:r>
                <a:endParaRPr b="0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397" name="Google Shape;397;p20"/>
              <p:cNvCxnSpPr/>
              <p:nvPr/>
            </p:nvCxnSpPr>
            <p:spPr>
              <a:xfrm>
                <a:off x="1714500" y="114300"/>
                <a:ext cx="0" cy="342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98" name="Google Shape;398;p20"/>
              <p:cNvSpPr txBox="1"/>
              <p:nvPr/>
            </p:nvSpPr>
            <p:spPr>
              <a:xfrm>
                <a:off x="1905000" y="9525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SQLAlchemy (ORM)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Secure object-relational mapping &amp; database transactions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399" name="Google Shape;399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2725" y="2571750"/>
              <a:ext cx="19200" cy="85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0" name="Google Shape;400;p20"/>
            <p:cNvGrpSpPr/>
            <p:nvPr/>
          </p:nvGrpSpPr>
          <p:grpSpPr>
            <a:xfrm>
              <a:off x="-142875" y="2647950"/>
              <a:ext cx="5810400" cy="647700"/>
              <a:chOff x="-142875" y="-19050"/>
              <a:chExt cx="5810400" cy="647700"/>
            </a:xfrm>
          </p:grpSpPr>
          <p:pic>
            <p:nvPicPr>
              <p:cNvPr id="401" name="Google Shape;401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142875" y="-19050"/>
                <a:ext cx="5810400" cy="647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2" name="Google Shape;402;p20"/>
              <p:cNvSpPr/>
              <p:nvPr/>
            </p:nvSpPr>
            <p:spPr>
              <a:xfrm>
                <a:off x="0" y="0"/>
                <a:ext cx="573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 txBox="1"/>
              <p:nvPr/>
            </p:nvSpPr>
            <p:spPr>
              <a:xfrm>
                <a:off x="152400" y="76200"/>
                <a:ext cx="152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DATABASE LAYER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Relational Storage</a:t>
                </a:r>
                <a:endParaRPr b="0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404" name="Google Shape;404;p20"/>
              <p:cNvCxnSpPr/>
              <p:nvPr/>
            </p:nvCxnSpPr>
            <p:spPr>
              <a:xfrm>
                <a:off x="1714500" y="114300"/>
                <a:ext cx="0" cy="342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05" name="Google Shape;405;p20"/>
              <p:cNvSpPr txBox="1"/>
              <p:nvPr/>
            </p:nvSpPr>
            <p:spPr>
              <a:xfrm>
                <a:off x="1905000" y="9525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MySQL Database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ACID-compliant storage for users, orders, &amp; inventory records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06" name="Google Shape;406;p20"/>
          <p:cNvGrpSpPr/>
          <p:nvPr/>
        </p:nvGrpSpPr>
        <p:grpSpPr>
          <a:xfrm>
            <a:off x="6067425" y="1371600"/>
            <a:ext cx="2762400" cy="3524400"/>
            <a:chOff x="-142875" y="-104775"/>
            <a:chExt cx="2762400" cy="3524400"/>
          </a:xfrm>
        </p:grpSpPr>
        <p:pic>
          <p:nvPicPr>
            <p:cNvPr id="407" name="Google Shape;407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142875" y="-104775"/>
              <a:ext cx="2762400" cy="352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20"/>
            <p:cNvSpPr txBox="1"/>
            <p:nvPr/>
          </p:nvSpPr>
          <p:spPr>
            <a:xfrm>
              <a:off x="190500" y="17145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SUPPORTING STACK</a:t>
              </a:r>
              <a:endParaRPr b="0" sz="95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Infrastructure &amp; Services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09" name="Google Shape;409;p20"/>
            <p:cNvCxnSpPr/>
            <p:nvPr/>
          </p:nvCxnSpPr>
          <p:spPr>
            <a:xfrm>
              <a:off x="190500" y="533400"/>
              <a:ext cx="2095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10" name="Google Shape;410;p20"/>
            <p:cNvGrpSpPr/>
            <p:nvPr/>
          </p:nvGrpSpPr>
          <p:grpSpPr>
            <a:xfrm>
              <a:off x="190500" y="647700"/>
              <a:ext cx="2095500" cy="266700"/>
              <a:chOff x="0" y="0"/>
              <a:chExt cx="2095500" cy="266700"/>
            </a:xfrm>
          </p:grpSpPr>
          <p:sp>
            <p:nvSpPr>
              <p:cNvPr id="411" name="Google Shape;411;p20"/>
              <p:cNvSpPr/>
              <p:nvPr/>
            </p:nvSpPr>
            <p:spPr>
              <a:xfrm>
                <a:off x="0" y="0"/>
                <a:ext cx="7620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 txBox="1"/>
              <p:nvPr/>
            </p:nvSpPr>
            <p:spPr>
              <a:xfrm>
                <a:off x="0" y="0"/>
                <a:ext cx="762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Redis</a:t>
                </a:r>
                <a:endParaRPr b="1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3" name="Google Shape;413;p20"/>
              <p:cNvSpPr txBox="1"/>
              <p:nvPr/>
            </p:nvSpPr>
            <p:spPr>
              <a:xfrm>
                <a:off x="876300" y="0"/>
                <a:ext cx="12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High-speed in-memory caching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14" name="Google Shape;414;p20"/>
            <p:cNvGrpSpPr/>
            <p:nvPr/>
          </p:nvGrpSpPr>
          <p:grpSpPr>
            <a:xfrm>
              <a:off x="190500" y="1047750"/>
              <a:ext cx="2095500" cy="266700"/>
              <a:chOff x="0" y="0"/>
              <a:chExt cx="2095500" cy="266700"/>
            </a:xfrm>
          </p:grpSpPr>
          <p:sp>
            <p:nvSpPr>
              <p:cNvPr id="415" name="Google Shape;415;p20"/>
              <p:cNvSpPr/>
              <p:nvPr/>
            </p:nvSpPr>
            <p:spPr>
              <a:xfrm>
                <a:off x="0" y="0"/>
                <a:ext cx="7620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0"/>
              <p:cNvSpPr txBox="1"/>
              <p:nvPr/>
            </p:nvSpPr>
            <p:spPr>
              <a:xfrm>
                <a:off x="0" y="0"/>
                <a:ext cx="762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Razorpay</a:t>
                </a:r>
                <a:endParaRPr b="1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7" name="Google Shape;417;p20"/>
              <p:cNvSpPr txBox="1"/>
              <p:nvPr/>
            </p:nvSpPr>
            <p:spPr>
              <a:xfrm>
                <a:off x="876300" y="0"/>
                <a:ext cx="12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Secure payment gateway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18" name="Google Shape;418;p20"/>
            <p:cNvGrpSpPr/>
            <p:nvPr/>
          </p:nvGrpSpPr>
          <p:grpSpPr>
            <a:xfrm>
              <a:off x="190500" y="1447800"/>
              <a:ext cx="2095500" cy="266700"/>
              <a:chOff x="0" y="0"/>
              <a:chExt cx="2095500" cy="266700"/>
            </a:xfrm>
          </p:grpSpPr>
          <p:sp>
            <p:nvSpPr>
              <p:cNvPr id="419" name="Google Shape;419;p20"/>
              <p:cNvSpPr/>
              <p:nvPr/>
            </p:nvSpPr>
            <p:spPr>
              <a:xfrm>
                <a:off x="0" y="0"/>
                <a:ext cx="7620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0"/>
              <p:cNvSpPr txBox="1"/>
              <p:nvPr/>
            </p:nvSpPr>
            <p:spPr>
              <a:xfrm>
                <a:off x="0" y="0"/>
                <a:ext cx="762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Docker</a:t>
                </a:r>
                <a:endParaRPr b="1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1" name="Google Shape;421;p20"/>
              <p:cNvSpPr txBox="1"/>
              <p:nvPr/>
            </p:nvSpPr>
            <p:spPr>
              <a:xfrm>
                <a:off x="876300" y="0"/>
                <a:ext cx="12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Containerized deployment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22" name="Google Shape;422;p20"/>
            <p:cNvGrpSpPr/>
            <p:nvPr/>
          </p:nvGrpSpPr>
          <p:grpSpPr>
            <a:xfrm>
              <a:off x="190500" y="1847850"/>
              <a:ext cx="2095500" cy="266700"/>
              <a:chOff x="0" y="0"/>
              <a:chExt cx="2095500" cy="266700"/>
            </a:xfrm>
          </p:grpSpPr>
          <p:sp>
            <p:nvSpPr>
              <p:cNvPr id="423" name="Google Shape;423;p20"/>
              <p:cNvSpPr/>
              <p:nvPr/>
            </p:nvSpPr>
            <p:spPr>
              <a:xfrm>
                <a:off x="0" y="0"/>
                <a:ext cx="7620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0"/>
              <p:cNvSpPr txBox="1"/>
              <p:nvPr/>
            </p:nvSpPr>
            <p:spPr>
              <a:xfrm>
                <a:off x="0" y="0"/>
                <a:ext cx="762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Nginx</a:t>
                </a:r>
                <a:endParaRPr b="1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5" name="Google Shape;425;p20"/>
              <p:cNvSpPr txBox="1"/>
              <p:nvPr/>
            </p:nvSpPr>
            <p:spPr>
              <a:xfrm>
                <a:off x="876300" y="0"/>
                <a:ext cx="12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Reverse proxy &amp; web server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>
              <a:off x="190500" y="2247900"/>
              <a:ext cx="2095500" cy="266700"/>
              <a:chOff x="0" y="0"/>
              <a:chExt cx="2095500" cy="266700"/>
            </a:xfrm>
          </p:grpSpPr>
          <p:sp>
            <p:nvSpPr>
              <p:cNvPr id="427" name="Google Shape;427;p20"/>
              <p:cNvSpPr/>
              <p:nvPr/>
            </p:nvSpPr>
            <p:spPr>
              <a:xfrm>
                <a:off x="0" y="0"/>
                <a:ext cx="7620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0"/>
              <p:cNvSpPr txBox="1"/>
              <p:nvPr/>
            </p:nvSpPr>
            <p:spPr>
              <a:xfrm>
                <a:off x="0" y="0"/>
                <a:ext cx="762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Gunicorn</a:t>
                </a:r>
                <a:endParaRPr b="1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9" name="Google Shape;429;p20"/>
              <p:cNvSpPr txBox="1"/>
              <p:nvPr/>
            </p:nvSpPr>
            <p:spPr>
              <a:xfrm>
                <a:off x="876300" y="0"/>
                <a:ext cx="12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WSGI application server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30" name="Google Shape;430;p20"/>
            <p:cNvGrpSpPr/>
            <p:nvPr/>
          </p:nvGrpSpPr>
          <p:grpSpPr>
            <a:xfrm>
              <a:off x="152400" y="2667000"/>
              <a:ext cx="2171700" cy="419100"/>
              <a:chOff x="0" y="0"/>
              <a:chExt cx="2171700" cy="419100"/>
            </a:xfrm>
          </p:grpSpPr>
          <p:sp>
            <p:nvSpPr>
              <p:cNvPr id="431" name="Google Shape;431;p20"/>
              <p:cNvSpPr/>
              <p:nvPr/>
            </p:nvSpPr>
            <p:spPr>
              <a:xfrm>
                <a:off x="0" y="0"/>
                <a:ext cx="2171700" cy="419100"/>
              </a:xfrm>
              <a:prstGeom prst="roundRect">
                <a:avLst>
                  <a:gd fmla="val 18181" name="adj"/>
                </a:avLst>
              </a:prstGeom>
              <a:solidFill>
                <a:srgbClr val="E6F4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0"/>
              <p:cNvSpPr txBox="1"/>
              <p:nvPr/>
            </p:nvSpPr>
            <p:spPr>
              <a:xfrm>
                <a:off x="114300" y="38100"/>
                <a:ext cx="19431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86">
                    <a:solidFill>
                      <a:srgbClr val="166534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Optimized pipeline for production-grade reliability &amp; security</a:t>
                </a:r>
                <a:endParaRPr b="0" sz="786">
                  <a:solidFill>
                    <a:srgbClr val="166534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BF9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21"/>
          <p:cNvGrpSpPr/>
          <p:nvPr/>
        </p:nvGrpSpPr>
        <p:grpSpPr>
          <a:xfrm>
            <a:off x="457200" y="304800"/>
            <a:ext cx="2240400" cy="350520"/>
            <a:chOff x="0" y="0"/>
            <a:chExt cx="2800500" cy="438150"/>
          </a:xfrm>
        </p:grpSpPr>
        <p:sp>
          <p:nvSpPr>
            <p:cNvPr id="438" name="Google Shape;438;p21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1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36000" y="36000"/>
                  </a:moveTo>
                  <a:cubicBezTo>
                    <a:pt x="36000" y="36000"/>
                    <a:pt x="72000" y="0"/>
                    <a:pt x="96000" y="24000"/>
                  </a:cubicBezTo>
                  <a:cubicBezTo>
                    <a:pt x="120000" y="48000"/>
                    <a:pt x="84000" y="84000"/>
                    <a:pt x="84000" y="84000"/>
                  </a:cubicBezTo>
                  <a:cubicBezTo>
                    <a:pt x="84000" y="84000"/>
                    <a:pt x="48000" y="120000"/>
                    <a:pt x="24000" y="96000"/>
                  </a:cubicBezTo>
                  <a:cubicBezTo>
                    <a:pt x="0" y="72000"/>
                    <a:pt x="36000" y="36000"/>
                    <a:pt x="36000" y="36000"/>
                  </a:cubicBezTo>
                  <a:close/>
                </a:path>
              </a:pathLst>
            </a:custGeom>
            <a:solidFill>
              <a:srgbClr val="166534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114300" y="114300"/>
              <a:ext cx="152400" cy="1524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1"/>
            <p:cNvSpPr txBox="1"/>
            <p:nvPr/>
          </p:nvSpPr>
          <p:spPr>
            <a:xfrm>
              <a:off x="419100" y="5715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9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JAYMANI</a:t>
              </a:r>
              <a:endParaRPr b="0" sz="119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KRISHI SEWA</a:t>
              </a:r>
              <a:endParaRPr b="0" sz="765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cxnSp>
        <p:nvCxnSpPr>
          <p:cNvPr id="442" name="Google Shape;442;p21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21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4" name="Google Shape;444;p21"/>
          <p:cNvGrpSpPr/>
          <p:nvPr/>
        </p:nvGrpSpPr>
        <p:grpSpPr>
          <a:xfrm>
            <a:off x="457200" y="1028700"/>
            <a:ext cx="8229600" cy="685800"/>
            <a:chOff x="0" y="0"/>
            <a:chExt cx="8229600" cy="685800"/>
          </a:xfrm>
        </p:grpSpPr>
        <p:sp>
          <p:nvSpPr>
            <p:cNvPr id="445" name="Google Shape;445;p21"/>
            <p:cNvSpPr/>
            <p:nvPr/>
          </p:nvSpPr>
          <p:spPr>
            <a:xfrm>
              <a:off x="0" y="0"/>
              <a:ext cx="1238400" cy="228600"/>
            </a:xfrm>
            <a:prstGeom prst="roundRect">
              <a:avLst>
                <a:gd fmla="val 50000" name="adj"/>
              </a:avLst>
            </a:prstGeom>
            <a:solidFill>
              <a:srgbClr val="E6F4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1"/>
            <p:cNvSpPr txBox="1"/>
            <p:nvPr/>
          </p:nvSpPr>
          <p:spPr>
            <a:xfrm>
              <a:off x="0" y="0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PO11 | ROADMAP</a:t>
              </a:r>
              <a:endParaRPr b="0" sz="85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47" name="Google Shape;447;p21"/>
            <p:cNvSpPr txBox="1"/>
            <p:nvPr/>
          </p:nvSpPr>
          <p:spPr>
            <a:xfrm>
              <a:off x="0" y="3048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Structured 8-Phase Timeline &amp; Development Pipeline</a:t>
              </a:r>
              <a:endParaRPr b="1" sz="2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448" name="Google Shape;448;p21"/>
          <p:cNvSpPr txBox="1"/>
          <p:nvPr/>
        </p:nvSpPr>
        <p:spPr>
          <a:xfrm>
            <a:off x="457200" y="171450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3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development of Jaymani Krishi Sewa follows a strict, milestone-driven roadmap designed to ensure thorough execution and quality control at every stage.</a:t>
            </a:r>
            <a:endParaRPr b="0" sz="93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9" name="Google Shape;449;p21"/>
          <p:cNvCxnSpPr/>
          <p:nvPr/>
        </p:nvCxnSpPr>
        <p:spPr>
          <a:xfrm>
            <a:off x="685800" y="2571750"/>
            <a:ext cx="77724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21"/>
          <p:cNvCxnSpPr/>
          <p:nvPr/>
        </p:nvCxnSpPr>
        <p:spPr>
          <a:xfrm>
            <a:off x="685800" y="3905250"/>
            <a:ext cx="77724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1" name="Google Shape;4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2557463"/>
            <a:ext cx="314400" cy="13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p21"/>
          <p:cNvGrpSpPr/>
          <p:nvPr/>
        </p:nvGrpSpPr>
        <p:grpSpPr>
          <a:xfrm>
            <a:off x="314325" y="2057400"/>
            <a:ext cx="2114700" cy="1447800"/>
            <a:chOff x="-142875" y="-85725"/>
            <a:chExt cx="2114700" cy="1447800"/>
          </a:xfrm>
        </p:grpSpPr>
        <p:pic>
          <p:nvPicPr>
            <p:cNvPr id="453" name="Google Shape;45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5" y="-85725"/>
              <a:ext cx="21147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21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1"/>
            <p:cNvSpPr txBox="1"/>
            <p:nvPr/>
          </p:nvSpPr>
          <p:spPr>
            <a:xfrm>
              <a:off x="95250" y="952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01</a:t>
              </a:r>
              <a:endParaRPr b="1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6" name="Google Shape;456;p21"/>
            <p:cNvSpPr/>
            <p:nvPr/>
          </p:nvSpPr>
          <p:spPr>
            <a:xfrm>
              <a:off x="438150" y="152400"/>
              <a:ext cx="1276500" cy="152400"/>
            </a:xfrm>
            <a:prstGeom prst="roundRect">
              <a:avLst>
                <a:gd fmla="val 25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1"/>
            <p:cNvSpPr txBox="1"/>
            <p:nvPr/>
          </p:nvSpPr>
          <p:spPr>
            <a:xfrm>
              <a:off x="438150" y="152400"/>
              <a:ext cx="1276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RESEARCH</a:t>
              </a:r>
              <a:endParaRPr b="0" sz="70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58" name="Google Shape;458;p21"/>
            <p:cNvSpPr txBox="1"/>
            <p:nvPr/>
          </p:nvSpPr>
          <p:spPr>
            <a:xfrm>
              <a:off x="114300" y="438150"/>
              <a:ext cx="16002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Problem ID &amp; Research</a:t>
              </a:r>
              <a:endParaRPr b="0" sz="105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Establish core objectives and evaluate ground needs.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9" name="Google Shape;459;p21"/>
          <p:cNvGrpSpPr/>
          <p:nvPr/>
        </p:nvGrpSpPr>
        <p:grpSpPr>
          <a:xfrm>
            <a:off x="2447925" y="2057400"/>
            <a:ext cx="2114700" cy="1447800"/>
            <a:chOff x="-142875" y="-85725"/>
            <a:chExt cx="2114700" cy="1447800"/>
          </a:xfrm>
        </p:grpSpPr>
        <p:pic>
          <p:nvPicPr>
            <p:cNvPr id="460" name="Google Shape;460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5" y="-85725"/>
              <a:ext cx="21147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21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1"/>
            <p:cNvSpPr txBox="1"/>
            <p:nvPr/>
          </p:nvSpPr>
          <p:spPr>
            <a:xfrm>
              <a:off x="95250" y="952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02</a:t>
              </a:r>
              <a:endParaRPr b="1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438150" y="152400"/>
              <a:ext cx="1276500" cy="152400"/>
            </a:xfrm>
            <a:prstGeom prst="roundRect">
              <a:avLst>
                <a:gd fmla="val 25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1"/>
            <p:cNvSpPr txBox="1"/>
            <p:nvPr/>
          </p:nvSpPr>
          <p:spPr>
            <a:xfrm>
              <a:off x="438150" y="152400"/>
              <a:ext cx="1276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RESEARCH</a:t>
              </a:r>
              <a:endParaRPr b="0" sz="70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65" name="Google Shape;465;p21"/>
            <p:cNvSpPr txBox="1"/>
            <p:nvPr/>
          </p:nvSpPr>
          <p:spPr>
            <a:xfrm>
              <a:off x="114300" y="438150"/>
              <a:ext cx="16002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Requirement Analysis</a:t>
              </a:r>
              <a:endParaRPr b="0" sz="105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Comprehensive analysis to define full system specs.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6" name="Google Shape;466;p21"/>
          <p:cNvGrpSpPr/>
          <p:nvPr/>
        </p:nvGrpSpPr>
        <p:grpSpPr>
          <a:xfrm>
            <a:off x="4581525" y="2057400"/>
            <a:ext cx="2114700" cy="1447800"/>
            <a:chOff x="-142875" y="-85725"/>
            <a:chExt cx="2114700" cy="1447800"/>
          </a:xfrm>
        </p:grpSpPr>
        <p:pic>
          <p:nvPicPr>
            <p:cNvPr id="467" name="Google Shape;46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5" y="-85725"/>
              <a:ext cx="21147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21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1"/>
            <p:cNvSpPr txBox="1"/>
            <p:nvPr/>
          </p:nvSpPr>
          <p:spPr>
            <a:xfrm>
              <a:off x="95250" y="952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03</a:t>
              </a:r>
              <a:endParaRPr b="1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438150" y="152400"/>
              <a:ext cx="1276500" cy="152400"/>
            </a:xfrm>
            <a:prstGeom prst="roundRect">
              <a:avLst>
                <a:gd fmla="val 25000" name="adj"/>
              </a:avLst>
            </a:prstGeom>
            <a:solidFill>
              <a:srgbClr val="E6F4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1"/>
            <p:cNvSpPr txBox="1"/>
            <p:nvPr/>
          </p:nvSpPr>
          <p:spPr>
            <a:xfrm>
              <a:off x="438150" y="152400"/>
              <a:ext cx="1276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DESIGN</a:t>
              </a:r>
              <a:endParaRPr b="0" sz="70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72" name="Google Shape;472;p21"/>
            <p:cNvSpPr txBox="1"/>
            <p:nvPr/>
          </p:nvSpPr>
          <p:spPr>
            <a:xfrm>
              <a:off x="114300" y="438150"/>
              <a:ext cx="16002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UI/UX Design</a:t>
              </a:r>
              <a:endParaRPr b="0" sz="105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Craft intuitive interfaces for all user roles &amp; flows.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3" name="Google Shape;473;p21"/>
          <p:cNvGrpSpPr/>
          <p:nvPr/>
        </p:nvGrpSpPr>
        <p:grpSpPr>
          <a:xfrm>
            <a:off x="6715125" y="2057400"/>
            <a:ext cx="2114700" cy="1447800"/>
            <a:chOff x="-142875" y="-85725"/>
            <a:chExt cx="2114700" cy="1447800"/>
          </a:xfrm>
        </p:grpSpPr>
        <p:pic>
          <p:nvPicPr>
            <p:cNvPr id="474" name="Google Shape;47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5" y="-85725"/>
              <a:ext cx="21147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21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1"/>
            <p:cNvSpPr txBox="1"/>
            <p:nvPr/>
          </p:nvSpPr>
          <p:spPr>
            <a:xfrm>
              <a:off x="95250" y="952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04</a:t>
              </a:r>
              <a:endParaRPr b="1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438150" y="152400"/>
              <a:ext cx="1276500" cy="152400"/>
            </a:xfrm>
            <a:prstGeom prst="roundRect">
              <a:avLst>
                <a:gd fmla="val 25000" name="adj"/>
              </a:avLst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1"/>
            <p:cNvSpPr txBox="1"/>
            <p:nvPr/>
          </p:nvSpPr>
          <p:spPr>
            <a:xfrm>
              <a:off x="438150" y="152400"/>
              <a:ext cx="1276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DEVELOPMENT</a:t>
              </a:r>
              <a:endParaRPr b="0" sz="70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79" name="Google Shape;479;p21"/>
            <p:cNvSpPr txBox="1"/>
            <p:nvPr/>
          </p:nvSpPr>
          <p:spPr>
            <a:xfrm>
              <a:off x="114300" y="438150"/>
              <a:ext cx="16002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DB &amp; Backend Dev</a:t>
              </a:r>
              <a:endParaRPr b="0" sz="105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Establish core data structures &amp; robust API endpoints.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0" name="Google Shape;480;p21"/>
          <p:cNvGrpSpPr/>
          <p:nvPr/>
        </p:nvGrpSpPr>
        <p:grpSpPr>
          <a:xfrm>
            <a:off x="314325" y="3390900"/>
            <a:ext cx="2114700" cy="1447800"/>
            <a:chOff x="-142875" y="-85725"/>
            <a:chExt cx="2114700" cy="1447800"/>
          </a:xfrm>
        </p:grpSpPr>
        <p:pic>
          <p:nvPicPr>
            <p:cNvPr id="481" name="Google Shape;481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5" y="-85725"/>
              <a:ext cx="21147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p21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1"/>
            <p:cNvSpPr txBox="1"/>
            <p:nvPr/>
          </p:nvSpPr>
          <p:spPr>
            <a:xfrm>
              <a:off x="95250" y="952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05</a:t>
              </a:r>
              <a:endParaRPr b="1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438150" y="152400"/>
              <a:ext cx="1276500" cy="152400"/>
            </a:xfrm>
            <a:prstGeom prst="roundRect">
              <a:avLst>
                <a:gd fmla="val 25000" name="adj"/>
              </a:avLst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1"/>
            <p:cNvSpPr txBox="1"/>
            <p:nvPr/>
          </p:nvSpPr>
          <p:spPr>
            <a:xfrm>
              <a:off x="438150" y="152400"/>
              <a:ext cx="1276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DEVELOPMENT</a:t>
              </a:r>
              <a:endParaRPr b="0" sz="70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86" name="Google Shape;486;p21"/>
            <p:cNvSpPr txBox="1"/>
            <p:nvPr/>
          </p:nvSpPr>
          <p:spPr>
            <a:xfrm>
              <a:off x="114300" y="438150"/>
              <a:ext cx="16002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Frontend Dev</a:t>
              </a:r>
              <a:endParaRPr b="0" sz="105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Build responsive client-facing application layouts.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7" name="Google Shape;487;p21"/>
          <p:cNvGrpSpPr/>
          <p:nvPr/>
        </p:nvGrpSpPr>
        <p:grpSpPr>
          <a:xfrm>
            <a:off x="2447925" y="3390900"/>
            <a:ext cx="2114700" cy="1447800"/>
            <a:chOff x="-142875" y="-85725"/>
            <a:chExt cx="2114700" cy="1447800"/>
          </a:xfrm>
        </p:grpSpPr>
        <p:pic>
          <p:nvPicPr>
            <p:cNvPr id="488" name="Google Shape;488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5" y="-85725"/>
              <a:ext cx="21147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21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1"/>
            <p:cNvSpPr txBox="1"/>
            <p:nvPr/>
          </p:nvSpPr>
          <p:spPr>
            <a:xfrm>
              <a:off x="95250" y="952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06</a:t>
              </a:r>
              <a:endParaRPr b="1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438150" y="152400"/>
              <a:ext cx="1276500" cy="152400"/>
            </a:xfrm>
            <a:prstGeom prst="roundRect">
              <a:avLst>
                <a:gd fmla="val 25000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1"/>
            <p:cNvSpPr txBox="1"/>
            <p:nvPr/>
          </p:nvSpPr>
          <p:spPr>
            <a:xfrm>
              <a:off x="438150" y="152400"/>
              <a:ext cx="1276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INTEGRATION</a:t>
              </a:r>
              <a:endParaRPr b="0" sz="7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93" name="Google Shape;493;p21"/>
            <p:cNvSpPr txBox="1"/>
            <p:nvPr/>
          </p:nvSpPr>
          <p:spPr>
            <a:xfrm>
              <a:off x="114300" y="438150"/>
              <a:ext cx="16002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Payment &amp; Bahi-Khata</a:t>
              </a:r>
              <a:endParaRPr b="0" sz="105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Connect payment modules and digital ledger systems.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4" name="Google Shape;494;p21"/>
          <p:cNvGrpSpPr/>
          <p:nvPr/>
        </p:nvGrpSpPr>
        <p:grpSpPr>
          <a:xfrm>
            <a:off x="4581525" y="3390900"/>
            <a:ext cx="2114700" cy="1447800"/>
            <a:chOff x="-142875" y="-85725"/>
            <a:chExt cx="2114700" cy="1447800"/>
          </a:xfrm>
        </p:grpSpPr>
        <p:pic>
          <p:nvPicPr>
            <p:cNvPr id="495" name="Google Shape;49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5" y="-85725"/>
              <a:ext cx="21147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21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1"/>
            <p:cNvSpPr txBox="1"/>
            <p:nvPr/>
          </p:nvSpPr>
          <p:spPr>
            <a:xfrm>
              <a:off x="95250" y="952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07</a:t>
              </a:r>
              <a:endParaRPr b="1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438150" y="152400"/>
              <a:ext cx="1276500" cy="152400"/>
            </a:xfrm>
            <a:prstGeom prst="roundRect">
              <a:avLst>
                <a:gd fmla="val 25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1"/>
            <p:cNvSpPr txBox="1"/>
            <p:nvPr/>
          </p:nvSpPr>
          <p:spPr>
            <a:xfrm>
              <a:off x="438150" y="152400"/>
              <a:ext cx="1276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DC262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TESTING</a:t>
              </a:r>
              <a:endParaRPr b="0" sz="700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00" name="Google Shape;500;p21"/>
            <p:cNvSpPr txBox="1"/>
            <p:nvPr/>
          </p:nvSpPr>
          <p:spPr>
            <a:xfrm>
              <a:off x="114300" y="438150"/>
              <a:ext cx="16002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Testing &amp; Security</a:t>
              </a:r>
              <a:endParaRPr b="0" sz="105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Rigorous platform testing &amp; comprehensive security audits.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1" name="Google Shape;501;p21"/>
          <p:cNvGrpSpPr/>
          <p:nvPr/>
        </p:nvGrpSpPr>
        <p:grpSpPr>
          <a:xfrm>
            <a:off x="6715125" y="3390900"/>
            <a:ext cx="2114700" cy="1447800"/>
            <a:chOff x="-142875" y="-85725"/>
            <a:chExt cx="2114700" cy="1447800"/>
          </a:xfrm>
        </p:grpSpPr>
        <p:pic>
          <p:nvPicPr>
            <p:cNvPr id="502" name="Google Shape;502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42875" y="-85725"/>
              <a:ext cx="21147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3" name="Google Shape;503;p21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1"/>
            <p:cNvSpPr txBox="1"/>
            <p:nvPr/>
          </p:nvSpPr>
          <p:spPr>
            <a:xfrm>
              <a:off x="95250" y="952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08</a:t>
              </a:r>
              <a:endParaRPr b="1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438150" y="152400"/>
              <a:ext cx="1276500" cy="152400"/>
            </a:xfrm>
            <a:prstGeom prst="roundRect">
              <a:avLst>
                <a:gd fmla="val 25000" name="adj"/>
              </a:avLst>
            </a:prstGeom>
            <a:solidFill>
              <a:srgbClr val="22C55E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1"/>
            <p:cNvSpPr txBox="1"/>
            <p:nvPr/>
          </p:nvSpPr>
          <p:spPr>
            <a:xfrm>
              <a:off x="438150" y="152400"/>
              <a:ext cx="1276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DEPLOYMENT</a:t>
              </a:r>
              <a:endParaRPr b="0" sz="7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07" name="Google Shape;507;p21"/>
            <p:cNvSpPr txBox="1"/>
            <p:nvPr/>
          </p:nvSpPr>
          <p:spPr>
            <a:xfrm>
              <a:off x="114300" y="438150"/>
              <a:ext cx="16002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Deployment &amp; Launch</a:t>
              </a:r>
              <a:endParaRPr b="0" sz="105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Final platform deployment and project presentation.</a:t>
              </a:r>
              <a:endParaRPr b="0" sz="85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3" name="Google Shape;513;p22"/>
          <p:cNvGrpSpPr/>
          <p:nvPr/>
        </p:nvGrpSpPr>
        <p:grpSpPr>
          <a:xfrm>
            <a:off x="457200" y="228600"/>
            <a:ext cx="2100375" cy="328613"/>
            <a:chOff x="0" y="0"/>
            <a:chExt cx="2800500" cy="438150"/>
          </a:xfrm>
        </p:grpSpPr>
        <p:sp>
          <p:nvSpPr>
            <p:cNvPr id="514" name="Google Shape;514;p22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2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36000" y="36000"/>
                  </a:moveTo>
                  <a:cubicBezTo>
                    <a:pt x="36000" y="36000"/>
                    <a:pt x="72000" y="0"/>
                    <a:pt x="96000" y="24000"/>
                  </a:cubicBezTo>
                  <a:cubicBezTo>
                    <a:pt x="120000" y="48000"/>
                    <a:pt x="84000" y="84000"/>
                    <a:pt x="84000" y="84000"/>
                  </a:cubicBezTo>
                  <a:cubicBezTo>
                    <a:pt x="84000" y="84000"/>
                    <a:pt x="48000" y="120000"/>
                    <a:pt x="24000" y="96000"/>
                  </a:cubicBezTo>
                  <a:cubicBezTo>
                    <a:pt x="0" y="72000"/>
                    <a:pt x="36000" y="36000"/>
                    <a:pt x="36000" y="36000"/>
                  </a:cubicBezTo>
                  <a:close/>
                </a:path>
              </a:pathLst>
            </a:custGeom>
            <a:solidFill>
              <a:srgbClr val="166534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2"/>
            <p:cNvSpPr/>
            <p:nvPr/>
          </p:nvSpPr>
          <p:spPr>
            <a:xfrm>
              <a:off x="114300" y="114300"/>
              <a:ext cx="152400" cy="1524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2"/>
            <p:cNvSpPr txBox="1"/>
            <p:nvPr/>
          </p:nvSpPr>
          <p:spPr>
            <a:xfrm>
              <a:off x="419100" y="5715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85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JAYMANI</a:t>
              </a:r>
              <a:endParaRPr b="0" sz="1085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98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KRISHI SEWA</a:t>
              </a:r>
              <a:endParaRPr b="0" sz="698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518" name="Google Shape;518;p22"/>
          <p:cNvSpPr/>
          <p:nvPr/>
        </p:nvSpPr>
        <p:spPr>
          <a:xfrm>
            <a:off x="6667500" y="228600"/>
            <a:ext cx="2019300" cy="266700"/>
          </a:xfrm>
          <a:prstGeom prst="roundRect">
            <a:avLst>
              <a:gd fmla="val 50000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2"/>
          <p:cNvSpPr txBox="1"/>
          <p:nvPr/>
        </p:nvSpPr>
        <p:spPr>
          <a:xfrm>
            <a:off x="6667500" y="228600"/>
            <a:ext cx="201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PO11 | TEAM WORK DISTRIBUTION</a:t>
            </a:r>
            <a:endParaRPr b="1" sz="800">
              <a:solidFill>
                <a:srgbClr val="16653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20" name="Google Shape;520;p22"/>
          <p:cNvCxnSpPr/>
          <p:nvPr/>
        </p:nvCxnSpPr>
        <p:spPr>
          <a:xfrm>
            <a:off x="457200" y="6096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1" name="Google Shape;521;p22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2"/>
          <p:cNvSpPr txBox="1"/>
          <p:nvPr/>
        </p:nvSpPr>
        <p:spPr>
          <a:xfrm>
            <a:off x="457200" y="7239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 Allocation &amp; Team Responsibility Matrix</a:t>
            </a:r>
            <a:endParaRPr b="1" sz="17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80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maximize efficiency and leverage individual strengths, the project workload has been strategically distributed between team members through a clear role structure, while maintaining mutual accountability for ultimate success.</a:t>
            </a:r>
            <a:endParaRPr b="0" sz="808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23" name="Google Shape;523;p22"/>
          <p:cNvGrpSpPr/>
          <p:nvPr/>
        </p:nvGrpSpPr>
        <p:grpSpPr>
          <a:xfrm>
            <a:off x="319088" y="1281113"/>
            <a:ext cx="2847900" cy="3800400"/>
            <a:chOff x="-138112" y="-100012"/>
            <a:chExt cx="2847900" cy="3800400"/>
          </a:xfrm>
        </p:grpSpPr>
        <p:pic>
          <p:nvPicPr>
            <p:cNvPr id="524" name="Google Shape;52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38112" y="-100012"/>
              <a:ext cx="2847900" cy="380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22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6" name="Google Shape;526;p22"/>
            <p:cNvGrpSpPr/>
            <p:nvPr/>
          </p:nvGrpSpPr>
          <p:grpSpPr>
            <a:xfrm>
              <a:off x="190500" y="190500"/>
              <a:ext cx="342900" cy="342900"/>
              <a:chOff x="0" y="0"/>
              <a:chExt cx="342900" cy="342900"/>
            </a:xfrm>
          </p:grpSpPr>
          <p:sp>
            <p:nvSpPr>
              <p:cNvPr id="527" name="Google Shape;527;p22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E6F4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114300" y="95250"/>
                <a:ext cx="1335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02857" y="0"/>
                    </a:lnTo>
                    <a:moveTo>
                      <a:pt x="0" y="30000"/>
                    </a:moveTo>
                    <a:lnTo>
                      <a:pt x="102857" y="30000"/>
                    </a:lnTo>
                    <a:moveTo>
                      <a:pt x="0" y="60000"/>
                    </a:moveTo>
                    <a:lnTo>
                      <a:pt x="68571" y="60000"/>
                    </a:lnTo>
                    <a:moveTo>
                      <a:pt x="85714" y="9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16653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9" name="Google Shape;529;p22"/>
            <p:cNvSpPr txBox="1"/>
            <p:nvPr/>
          </p:nvSpPr>
          <p:spPr>
            <a:xfrm>
              <a:off x="609600" y="190500"/>
              <a:ext cx="17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166534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Manish Pandey</a:t>
              </a:r>
              <a:endParaRPr b="0" sz="1300">
                <a:solidFill>
                  <a:srgbClr val="16653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Research &amp; Planning Lead</a:t>
              </a:r>
              <a:endParaRPr b="0" sz="80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530" name="Google Shape;530;p22"/>
            <p:cNvCxnSpPr/>
            <p:nvPr/>
          </p:nvCxnSpPr>
          <p:spPr>
            <a:xfrm>
              <a:off x="190500" y="647700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1" name="Google Shape;531;p22"/>
            <p:cNvSpPr txBox="1"/>
            <p:nvPr/>
          </p:nvSpPr>
          <p:spPr>
            <a:xfrm>
              <a:off x="190500" y="742950"/>
              <a:ext cx="2190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PRIMARY RESPONSIBILITIES</a:t>
              </a:r>
              <a:endParaRPr b="0" sz="8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Research Lead</a:t>
              </a:r>
              <a:endParaRPr b="0" sz="10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Requirement Gathering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SzPts val="1400"/>
                <a:buChar char="●"/>
              </a:pPr>
              <a:r>
                <a:rPr b="0" lang="en-GB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Comprehensive Documentation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cxnSp>
          <p:nvCxnSpPr>
            <p:cNvPr id="532" name="Google Shape;532;p22"/>
            <p:cNvCxnSpPr/>
            <p:nvPr/>
          </p:nvCxnSpPr>
          <p:spPr>
            <a:xfrm>
              <a:off x="190500" y="2076450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3" name="Google Shape;533;p22"/>
            <p:cNvSpPr txBox="1"/>
            <p:nvPr/>
          </p:nvSpPr>
          <p:spPr>
            <a:xfrm>
              <a:off x="190500" y="2171700"/>
              <a:ext cx="2190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SUPPORTING ROLES</a:t>
              </a:r>
              <a:endParaRPr b="0" sz="85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Overarching System Planning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Structuring Presentation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SzPts val="1400"/>
                <a:buChar char="●"/>
              </a:pPr>
              <a:r>
                <a:rPr b="0" lang="en-GB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Quality Assurance Testing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4" name="Google Shape;534;p22"/>
          <p:cNvGrpSpPr/>
          <p:nvPr/>
        </p:nvGrpSpPr>
        <p:grpSpPr>
          <a:xfrm>
            <a:off x="3119438" y="1281113"/>
            <a:ext cx="2905200" cy="3800400"/>
            <a:chOff x="-138112" y="-100012"/>
            <a:chExt cx="2905200" cy="3800400"/>
          </a:xfrm>
        </p:grpSpPr>
        <p:pic>
          <p:nvPicPr>
            <p:cNvPr id="535" name="Google Shape;535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38112" y="-100012"/>
              <a:ext cx="2905200" cy="380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p22"/>
            <p:cNvSpPr/>
            <p:nvPr/>
          </p:nvSpPr>
          <p:spPr>
            <a:xfrm>
              <a:off x="0" y="0"/>
              <a:ext cx="1143000" cy="1143000"/>
            </a:xfrm>
            <a:custGeom>
              <a:rect b="b" l="l" r="r" t="t"/>
              <a:pathLst>
                <a:path extrusionOk="0" h="120000" w="120000">
                  <a:moveTo>
                    <a:pt x="0" y="24000"/>
                  </a:moveTo>
                  <a:cubicBezTo>
                    <a:pt x="0" y="0"/>
                    <a:pt x="24000" y="0"/>
                    <a:pt x="24000" y="0"/>
                  </a:cubicBez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2C55E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7" name="Google Shape;537;p22"/>
            <p:cNvGrpSpPr/>
            <p:nvPr/>
          </p:nvGrpSpPr>
          <p:grpSpPr>
            <a:xfrm>
              <a:off x="190500" y="190500"/>
              <a:ext cx="342900" cy="342900"/>
              <a:chOff x="0" y="0"/>
              <a:chExt cx="342900" cy="342900"/>
            </a:xfrm>
          </p:grpSpPr>
          <p:sp>
            <p:nvSpPr>
              <p:cNvPr id="538" name="Google Shape;538;p22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22"/>
              <p:cNvSpPr/>
              <p:nvPr/>
            </p:nvSpPr>
            <p:spPr>
              <a:xfrm>
                <a:off x="114300" y="66675"/>
                <a:ext cx="114300" cy="1047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0" y="87273"/>
                      <a:pt x="30000" y="65455"/>
                      <a:pt x="60000" y="65455"/>
                    </a:cubicBezTo>
                    <a:cubicBezTo>
                      <a:pt x="90000" y="65455"/>
                      <a:pt x="120000" y="87273"/>
                      <a:pt x="120000" y="120000"/>
                    </a:cubicBezTo>
                    <a:moveTo>
                      <a:pt x="90000" y="32727"/>
                    </a:moveTo>
                    <a:cubicBezTo>
                      <a:pt x="90000" y="50803"/>
                      <a:pt x="76569" y="65455"/>
                      <a:pt x="60000" y="65455"/>
                    </a:cubicBezTo>
                    <a:cubicBezTo>
                      <a:pt x="43431" y="65455"/>
                      <a:pt x="30000" y="50803"/>
                      <a:pt x="30000" y="32727"/>
                    </a:cubicBezTo>
                    <a:cubicBezTo>
                      <a:pt x="30000" y="14653"/>
                      <a:pt x="43431" y="0"/>
                      <a:pt x="60000" y="0"/>
                    </a:cubicBezTo>
                    <a:cubicBezTo>
                      <a:pt x="76569" y="0"/>
                      <a:pt x="90000" y="14653"/>
                      <a:pt x="90000" y="3272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0" name="Google Shape;540;p22"/>
            <p:cNvSpPr txBox="1"/>
            <p:nvPr/>
          </p:nvSpPr>
          <p:spPr>
            <a:xfrm>
              <a:off x="609600" y="190500"/>
              <a:ext cx="1828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33">
                  <a:solidFill>
                    <a:srgbClr val="A9DFB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SHARED RESPONSIBILITY</a:t>
              </a:r>
              <a:endParaRPr b="0" sz="833">
                <a:solidFill>
                  <a:srgbClr val="A9DFB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110">
                  <a:solidFill>
                    <a:srgbClr val="FFFFFF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Joint Integration &amp; Delivery</a:t>
              </a:r>
              <a:endParaRPr b="0" sz="111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</p:txBody>
        </p:sp>
        <p:pic>
          <p:nvPicPr>
            <p:cNvPr id="541" name="Google Shape;541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0500" y="642938"/>
              <a:ext cx="2247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p22"/>
            <p:cNvSpPr txBox="1"/>
            <p:nvPr/>
          </p:nvSpPr>
          <p:spPr>
            <a:xfrm>
              <a:off x="190500" y="762000"/>
              <a:ext cx="2247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Despite specialized primary roles, intensive team collaboration is maintained across all critical project phases:</a:t>
              </a:r>
              <a:endParaRPr b="0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Integration</a:t>
              </a:r>
              <a:endParaRPr b="0" sz="893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04165" lvl="0" marL="457200" rtl="0" algn="l">
                <a:spcBef>
                  <a:spcPts val="150"/>
                </a:spcBef>
                <a:spcAft>
                  <a:spcPts val="0"/>
                </a:spcAft>
                <a:buSzPts val="1190"/>
                <a:buChar char="●"/>
              </a:pPr>
              <a:r>
                <a:rPr b="0" lang="en-GB" sz="723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Connecting frontend UI with backend APIs seamlessly.</a:t>
              </a:r>
              <a:endParaRPr b="0" sz="723">
                <a:solidFill>
                  <a:srgbClr val="A9DFB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Final Testing Protocols</a:t>
              </a:r>
              <a:endParaRPr b="0" sz="893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04165" lvl="0" marL="457200" rtl="0" algn="l">
                <a:spcBef>
                  <a:spcPts val="150"/>
                </a:spcBef>
                <a:spcAft>
                  <a:spcPts val="0"/>
                </a:spcAft>
                <a:buSzPts val="1190"/>
                <a:buChar char="●"/>
              </a:pPr>
              <a:r>
                <a:rPr b="0" lang="en-GB" sz="723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Joint QA and end-to-end system verification.</a:t>
              </a:r>
              <a:endParaRPr b="0" sz="723">
                <a:solidFill>
                  <a:srgbClr val="A9DFB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Final Presentation</a:t>
              </a:r>
              <a:endParaRPr b="0" sz="893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04165" lvl="0" marL="457200" rtl="0" algn="l">
                <a:spcBef>
                  <a:spcPts val="150"/>
                </a:spcBef>
                <a:spcAft>
                  <a:spcPts val="0"/>
                </a:spcAft>
                <a:buSzPts val="1190"/>
                <a:buChar char="●"/>
              </a:pPr>
              <a:r>
                <a:rPr b="0" lang="en-GB" sz="723">
                  <a:solidFill>
                    <a:srgbClr val="A9DFBF"/>
                  </a:solidFill>
                  <a:latin typeface="Inter"/>
                  <a:ea typeface="Inter"/>
                  <a:cs typeface="Inter"/>
                  <a:sym typeface="Inter"/>
                </a:rPr>
                <a:t>Co-delivering project evaluation and deliverables.</a:t>
              </a:r>
              <a:endParaRPr b="0" sz="723">
                <a:solidFill>
                  <a:srgbClr val="A9DFB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1" lang="en-GB" sz="723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Ensuring mutual accountability for ultimate project success.</a:t>
              </a:r>
              <a:endParaRPr b="0" i="1" sz="723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3" name="Google Shape;543;p22"/>
          <p:cNvGrpSpPr/>
          <p:nvPr/>
        </p:nvGrpSpPr>
        <p:grpSpPr>
          <a:xfrm>
            <a:off x="5976938" y="1281113"/>
            <a:ext cx="2847900" cy="3800400"/>
            <a:chOff x="-138112" y="-100012"/>
            <a:chExt cx="2847900" cy="3800400"/>
          </a:xfrm>
        </p:grpSpPr>
        <p:pic>
          <p:nvPicPr>
            <p:cNvPr id="544" name="Google Shape;54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38112" y="-100012"/>
              <a:ext cx="2847900" cy="380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5" name="Google Shape;545;p22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6" name="Google Shape;546;p22"/>
            <p:cNvGrpSpPr/>
            <p:nvPr/>
          </p:nvGrpSpPr>
          <p:grpSpPr>
            <a:xfrm>
              <a:off x="190500" y="190500"/>
              <a:ext cx="342900" cy="342900"/>
              <a:chOff x="0" y="0"/>
              <a:chExt cx="342900" cy="342900"/>
            </a:xfrm>
          </p:grpSpPr>
          <p:sp>
            <p:nvSpPr>
              <p:cNvPr id="547" name="Google Shape;547;p22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E6F4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2"/>
              <p:cNvSpPr/>
              <p:nvPr/>
            </p:nvSpPr>
            <p:spPr>
              <a:xfrm>
                <a:off x="66675" y="95250"/>
                <a:ext cx="209700" cy="133500"/>
              </a:xfrm>
              <a:custGeom>
                <a:rect b="b" l="l" r="r" t="t"/>
                <a:pathLst>
                  <a:path extrusionOk="0" h="120000" w="120000">
                    <a:moveTo>
                      <a:pt x="21818" y="25714"/>
                    </a:moveTo>
                    <a:lnTo>
                      <a:pt x="0" y="60000"/>
                    </a:lnTo>
                    <a:lnTo>
                      <a:pt x="21818" y="94286"/>
                    </a:lnTo>
                    <a:moveTo>
                      <a:pt x="98182" y="25714"/>
                    </a:moveTo>
                    <a:lnTo>
                      <a:pt x="120000" y="60000"/>
                    </a:lnTo>
                    <a:lnTo>
                      <a:pt x="98182" y="94286"/>
                    </a:lnTo>
                    <a:moveTo>
                      <a:pt x="70909" y="0"/>
                    </a:moveTo>
                    <a:lnTo>
                      <a:pt x="49091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16653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9" name="Google Shape;549;p22"/>
            <p:cNvSpPr txBox="1"/>
            <p:nvPr/>
          </p:nvSpPr>
          <p:spPr>
            <a:xfrm>
              <a:off x="609600" y="190500"/>
              <a:ext cx="17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166534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Jayant Raj</a:t>
              </a:r>
              <a:endParaRPr b="0" sz="1300">
                <a:solidFill>
                  <a:srgbClr val="16653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UI/UX &amp; Tech Lead</a:t>
              </a:r>
              <a:endParaRPr b="0" sz="80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550" name="Google Shape;550;p22"/>
            <p:cNvCxnSpPr/>
            <p:nvPr/>
          </p:nvCxnSpPr>
          <p:spPr>
            <a:xfrm>
              <a:off x="190500" y="647700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1" name="Google Shape;551;p22"/>
            <p:cNvSpPr txBox="1"/>
            <p:nvPr/>
          </p:nvSpPr>
          <p:spPr>
            <a:xfrm>
              <a:off x="190500" y="742950"/>
              <a:ext cx="2190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PRIMARY RESPONSIBILITIES</a:t>
              </a:r>
              <a:endParaRPr b="0" sz="8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UI/UX Conceptualization</a:t>
              </a:r>
              <a:endParaRPr b="0" sz="10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Frontend Programming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SzPts val="1400"/>
                <a:buChar char="●"/>
              </a:pPr>
              <a:r>
                <a:rPr b="0" lang="en-GB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Core Application Development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cxnSp>
          <p:nvCxnSpPr>
            <p:cNvPr id="552" name="Google Shape;552;p22"/>
            <p:cNvCxnSpPr/>
            <p:nvPr/>
          </p:nvCxnSpPr>
          <p:spPr>
            <a:xfrm>
              <a:off x="190500" y="2076450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3" name="Google Shape;553;p22"/>
            <p:cNvSpPr txBox="1"/>
            <p:nvPr/>
          </p:nvSpPr>
          <p:spPr>
            <a:xfrm>
              <a:off x="190500" y="2171700"/>
              <a:ext cx="2190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SUPPORTING ROLES</a:t>
              </a:r>
              <a:endParaRPr b="0" sz="85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Database Architecture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API Integration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SzPts val="1400"/>
                <a:buChar char="●"/>
              </a:pPr>
              <a:r>
                <a:rPr b="0" lang="en-GB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Server Deployment Pipeline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59" name="Google Shape;559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B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0" y="0"/>
              <a:ext cx="3048000" cy="5143500"/>
            </a:xfrm>
            <a:prstGeom prst="rect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0" y="4191000"/>
              <a:ext cx="952500" cy="952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2C55E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2" name="Google Shape;562;p23"/>
            <p:cNvGrpSpPr/>
            <p:nvPr/>
          </p:nvGrpSpPr>
          <p:grpSpPr>
            <a:xfrm>
              <a:off x="304800" y="266700"/>
              <a:ext cx="2240400" cy="350520"/>
              <a:chOff x="0" y="0"/>
              <a:chExt cx="2800500" cy="438150"/>
            </a:xfrm>
          </p:grpSpPr>
          <p:sp>
            <p:nvSpPr>
              <p:cNvPr id="563" name="Google Shape;563;p23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3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36000" y="36000"/>
                    </a:moveTo>
                    <a:cubicBezTo>
                      <a:pt x="36000" y="36000"/>
                      <a:pt x="72000" y="0"/>
                      <a:pt x="96000" y="24000"/>
                    </a:cubicBezTo>
                    <a:cubicBezTo>
                      <a:pt x="120000" y="48000"/>
                      <a:pt x="84000" y="84000"/>
                      <a:pt x="84000" y="84000"/>
                    </a:cubicBezTo>
                    <a:cubicBezTo>
                      <a:pt x="84000" y="84000"/>
                      <a:pt x="48000" y="120000"/>
                      <a:pt x="24000" y="96000"/>
                    </a:cubicBezTo>
                    <a:cubicBezTo>
                      <a:pt x="0" y="72000"/>
                      <a:pt x="36000" y="36000"/>
                      <a:pt x="36000" y="36000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3"/>
              <p:cNvSpPr/>
              <p:nvPr/>
            </p:nvSpPr>
            <p:spPr>
              <a:xfrm>
                <a:off x="114300" y="114300"/>
                <a:ext cx="152400" cy="152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16653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3"/>
              <p:cNvSpPr txBox="1"/>
              <p:nvPr/>
            </p:nvSpPr>
            <p:spPr>
              <a:xfrm>
                <a:off x="419100" y="57150"/>
                <a:ext cx="2381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9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JAYMANI</a:t>
                </a:r>
                <a:endParaRPr b="0" sz="119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A9DFB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KRISHI SEWA</a:t>
                </a:r>
                <a:endParaRPr b="0" sz="765">
                  <a:solidFill>
                    <a:srgbClr val="A9DFB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567" name="Google Shape;567;p23"/>
            <p:cNvSpPr/>
            <p:nvPr/>
          </p:nvSpPr>
          <p:spPr>
            <a:xfrm>
              <a:off x="3048000" y="5105400"/>
              <a:ext cx="6096000" cy="381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8" name="Google Shape;568;p23"/>
          <p:cNvSpPr txBox="1"/>
          <p:nvPr/>
        </p:nvSpPr>
        <p:spPr>
          <a:xfrm>
            <a:off x="304800" y="838200"/>
            <a:ext cx="2438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9DFB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PO10 | CONCLUSION &amp; IMPACT</a:t>
            </a:r>
            <a:endParaRPr b="0" sz="1000">
              <a:solidFill>
                <a:srgbClr val="A9DFB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69" name="Google Shape;569;p23"/>
          <p:cNvGrpSpPr/>
          <p:nvPr/>
        </p:nvGrpSpPr>
        <p:grpSpPr>
          <a:xfrm>
            <a:off x="228600" y="1200150"/>
            <a:ext cx="2552850" cy="2000100"/>
            <a:chOff x="0" y="0"/>
            <a:chExt cx="2552850" cy="2000100"/>
          </a:xfrm>
        </p:grpSpPr>
        <p:sp>
          <p:nvSpPr>
            <p:cNvPr id="570" name="Google Shape;570;p23"/>
            <p:cNvSpPr/>
            <p:nvPr/>
          </p:nvSpPr>
          <p:spPr>
            <a:xfrm>
              <a:off x="0" y="0"/>
              <a:ext cx="38100" cy="20001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3"/>
            <p:cNvSpPr/>
            <p:nvPr/>
          </p:nvSpPr>
          <p:spPr>
            <a:xfrm>
              <a:off x="152400" y="1905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quadBezTo>
                    <a:pt x="18000" y="0"/>
                    <a:pt x="48000" y="0"/>
                  </a:quadBezTo>
                  <a:lnTo>
                    <a:pt x="48000" y="45000"/>
                  </a:lnTo>
                  <a:quadBezTo>
                    <a:pt x="24000" y="45000"/>
                    <a:pt x="18000" y="75000"/>
                  </a:quadBezTo>
                  <a:lnTo>
                    <a:pt x="48000" y="75000"/>
                  </a:lnTo>
                  <a:lnTo>
                    <a:pt x="48000" y="120000"/>
                  </a:lnTo>
                  <a:lnTo>
                    <a:pt x="0" y="120000"/>
                  </a:lnTo>
                  <a:close/>
                  <a:moveTo>
                    <a:pt x="72000" y="30000"/>
                  </a:moveTo>
                  <a:quadBezTo>
                    <a:pt x="90000" y="0"/>
                    <a:pt x="120000" y="0"/>
                  </a:quadBezTo>
                  <a:lnTo>
                    <a:pt x="120000" y="45000"/>
                  </a:lnTo>
                  <a:quadBezTo>
                    <a:pt x="96000" y="45000"/>
                    <a:pt x="90000" y="75000"/>
                  </a:quadBezTo>
                  <a:lnTo>
                    <a:pt x="120000" y="75000"/>
                  </a:lnTo>
                  <a:lnTo>
                    <a:pt x="120000" y="120000"/>
                  </a:lnTo>
                  <a:lnTo>
                    <a:pt x="72000" y="120000"/>
                  </a:lnTo>
                  <a:close/>
                </a:path>
              </a:pathLst>
            </a:custGeom>
            <a:solidFill>
              <a:srgbClr val="22C55E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3"/>
            <p:cNvSpPr txBox="1"/>
            <p:nvPr/>
          </p:nvSpPr>
          <p:spPr>
            <a:xfrm>
              <a:off x="171450" y="95250"/>
              <a:ext cx="2381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GB" sz="11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"From searching multiple local shops to discovering and managing agricultural supplies through one digital platform."</a:t>
              </a:r>
              <a:endParaRPr b="0" i="1" sz="1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A9DFB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VISION STATEMENT</a:t>
              </a:r>
              <a:endParaRPr b="0" sz="850">
                <a:solidFill>
                  <a:srgbClr val="A9DFB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573" name="Google Shape;573;p23"/>
          <p:cNvGrpSpPr/>
          <p:nvPr/>
        </p:nvGrpSpPr>
        <p:grpSpPr>
          <a:xfrm>
            <a:off x="228600" y="3390900"/>
            <a:ext cx="2590800" cy="1447800"/>
            <a:chOff x="0" y="0"/>
            <a:chExt cx="2590800" cy="1447800"/>
          </a:xfrm>
        </p:grpSpPr>
        <p:sp>
          <p:nvSpPr>
            <p:cNvPr id="574" name="Google Shape;574;p23"/>
            <p:cNvSpPr/>
            <p:nvPr/>
          </p:nvSpPr>
          <p:spPr>
            <a:xfrm>
              <a:off x="0" y="0"/>
              <a:ext cx="2590800" cy="1447800"/>
            </a:xfrm>
            <a:prstGeom prst="roundRect">
              <a:avLst>
                <a:gd fmla="val 6578" name="adj"/>
              </a:avLst>
            </a:prstGeom>
            <a:solidFill>
              <a:srgbClr val="0D47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3"/>
            <p:cNvSpPr/>
            <p:nvPr/>
          </p:nvSpPr>
          <p:spPr>
            <a:xfrm>
              <a:off x="0" y="0"/>
              <a:ext cx="762000" cy="7620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quadBezTo>
                    <a:pt x="0" y="0"/>
                    <a:pt x="15000" y="0"/>
                  </a:quadBez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2C55E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3"/>
            <p:cNvSpPr txBox="1"/>
            <p:nvPr/>
          </p:nvSpPr>
          <p:spPr>
            <a:xfrm>
              <a:off x="171450" y="152400"/>
              <a:ext cx="224790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22C55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TRANSFORMATION SUMMARY</a:t>
              </a:r>
              <a:endParaRPr b="0" sz="850">
                <a:solidFill>
                  <a:srgbClr val="22C55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Jaymani Krishi Sewa replaces fragmented physical searches with a unified, hyper-local digital ecosystem for farmers and retailers.</a:t>
              </a:r>
              <a:endParaRPr b="0" sz="95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7" name="Google Shape;577;p23"/>
          <p:cNvGrpSpPr/>
          <p:nvPr/>
        </p:nvGrpSpPr>
        <p:grpSpPr>
          <a:xfrm>
            <a:off x="3176588" y="138113"/>
            <a:ext cx="5800800" cy="4967438"/>
            <a:chOff x="-138112" y="-52387"/>
            <a:chExt cx="5800800" cy="4967438"/>
          </a:xfrm>
        </p:grpSpPr>
        <p:grpSp>
          <p:nvGrpSpPr>
            <p:cNvPr id="578" name="Google Shape;578;p23"/>
            <p:cNvGrpSpPr/>
            <p:nvPr/>
          </p:nvGrpSpPr>
          <p:grpSpPr>
            <a:xfrm>
              <a:off x="-138112" y="-52387"/>
              <a:ext cx="5800800" cy="1014300"/>
              <a:chOff x="-138112" y="-52387"/>
              <a:chExt cx="5800800" cy="1014300"/>
            </a:xfrm>
          </p:grpSpPr>
          <p:pic>
            <p:nvPicPr>
              <p:cNvPr id="579" name="Google Shape;579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138112" y="-52387"/>
                <a:ext cx="5800800" cy="10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0" name="Google Shape;580;p23"/>
              <p:cNvSpPr/>
              <p:nvPr/>
            </p:nvSpPr>
            <p:spPr>
              <a:xfrm>
                <a:off x="0" y="0"/>
                <a:ext cx="47700" cy="876300"/>
              </a:xfrm>
              <a:prstGeom prst="roundRect">
                <a:avLst>
                  <a:gd fmla="val 40000" name="adj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3"/>
              <p:cNvSpPr txBox="1"/>
              <p:nvPr/>
            </p:nvSpPr>
            <p:spPr>
              <a:xfrm>
                <a:off x="190500" y="114300"/>
                <a:ext cx="51627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EF444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 THE CRITICAL PROBLEM</a:t>
                </a:r>
                <a:endParaRPr b="0" sz="85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Farmers face severe uncertainty regarding local agricultural product availability, pricing, and the management of manual credit records.</a:t>
                </a:r>
                <a:endParaRPr b="0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82" name="Google Shape;582;p23"/>
            <p:cNvGrpSpPr/>
            <p:nvPr/>
          </p:nvGrpSpPr>
          <p:grpSpPr>
            <a:xfrm>
              <a:off x="-138112" y="919163"/>
              <a:ext cx="5800800" cy="1014300"/>
              <a:chOff x="-138112" y="-52387"/>
              <a:chExt cx="5800800" cy="1014300"/>
            </a:xfrm>
          </p:grpSpPr>
          <p:pic>
            <p:nvPicPr>
              <p:cNvPr id="583" name="Google Shape;583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138112" y="-52387"/>
                <a:ext cx="5800800" cy="10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4" name="Google Shape;584;p23"/>
              <p:cNvSpPr/>
              <p:nvPr/>
            </p:nvSpPr>
            <p:spPr>
              <a:xfrm>
                <a:off x="0" y="0"/>
                <a:ext cx="47700" cy="876300"/>
              </a:xfrm>
              <a:prstGeom prst="roundRect">
                <a:avLst>
                  <a:gd fmla="val 40000" name="adj"/>
                </a:avLst>
              </a:prstGeom>
              <a:solidFill>
                <a:srgbClr val="1665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3"/>
              <p:cNvSpPr txBox="1"/>
              <p:nvPr/>
            </p:nvSpPr>
            <p:spPr>
              <a:xfrm>
                <a:off x="190500" y="114300"/>
                <a:ext cx="51627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 OUR HYPER-LOCAL SOLUTION</a:t>
                </a:r>
                <a:endParaRPr b="0" sz="8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A simple digital platform that seamlessly connects farmers with verified local agricultural retailers through real-time discovery and connectivity.</a:t>
                </a:r>
                <a:endParaRPr b="0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86" name="Google Shape;586;p23"/>
            <p:cNvGrpSpPr/>
            <p:nvPr/>
          </p:nvGrpSpPr>
          <p:grpSpPr>
            <a:xfrm>
              <a:off x="-138112" y="1890713"/>
              <a:ext cx="5800800" cy="1014300"/>
              <a:chOff x="-138112" y="-52387"/>
              <a:chExt cx="5800800" cy="1014300"/>
            </a:xfrm>
          </p:grpSpPr>
          <p:pic>
            <p:nvPicPr>
              <p:cNvPr id="587" name="Google Shape;587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138112" y="-52387"/>
                <a:ext cx="5800800" cy="10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8" name="Google Shape;588;p23"/>
              <p:cNvSpPr/>
              <p:nvPr/>
            </p:nvSpPr>
            <p:spPr>
              <a:xfrm>
                <a:off x="0" y="0"/>
                <a:ext cx="47700" cy="876300"/>
              </a:xfrm>
              <a:prstGeom prst="roundRect">
                <a:avLst>
                  <a:gd fmla="val 40000" name="adj"/>
                </a:avLst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3"/>
              <p:cNvSpPr txBox="1"/>
              <p:nvPr/>
            </p:nvSpPr>
            <p:spPr>
              <a:xfrm>
                <a:off x="190500" y="114300"/>
                <a:ext cx="51627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15803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3. PROJECT FEASIBILITY</a:t>
                </a:r>
                <a:endParaRPr b="0" sz="850">
                  <a:solidFill>
                    <a:srgbClr val="15803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Supported by a robust modern technology stack and a structured, phased implementation roadmap, making development highly feasible and realistic.</a:t>
                </a:r>
                <a:endParaRPr b="0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90" name="Google Shape;590;p23"/>
            <p:cNvGrpSpPr/>
            <p:nvPr/>
          </p:nvGrpSpPr>
          <p:grpSpPr>
            <a:xfrm>
              <a:off x="-138112" y="2862263"/>
              <a:ext cx="5800800" cy="1014300"/>
              <a:chOff x="-138112" y="-52387"/>
              <a:chExt cx="5800800" cy="1014300"/>
            </a:xfrm>
          </p:grpSpPr>
          <p:pic>
            <p:nvPicPr>
              <p:cNvPr id="591" name="Google Shape;591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138112" y="-52387"/>
                <a:ext cx="5800800" cy="10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" name="Google Shape;592;p23"/>
              <p:cNvSpPr/>
              <p:nvPr/>
            </p:nvSpPr>
            <p:spPr>
              <a:xfrm>
                <a:off x="0" y="0"/>
                <a:ext cx="47700" cy="876300"/>
              </a:xfrm>
              <a:prstGeom prst="roundRect">
                <a:avLst>
                  <a:gd fmla="val 40000" name="adj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23"/>
              <p:cNvSpPr txBox="1"/>
              <p:nvPr/>
            </p:nvSpPr>
            <p:spPr>
              <a:xfrm>
                <a:off x="190500" y="114300"/>
                <a:ext cx="51627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D9770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4. BRIDGING THE RESEARCH GAP</a:t>
                </a:r>
                <a:endParaRPr b="0" sz="85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Successfully combines Local Retail, Inventory Tracking, a Digital Marketplace, and Digital Bahi-Khata into one unified workflow.</a:t>
                </a:r>
                <a:endParaRPr b="0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94" name="Google Shape;594;p23"/>
            <p:cNvGrpSpPr/>
            <p:nvPr/>
          </p:nvGrpSpPr>
          <p:grpSpPr>
            <a:xfrm>
              <a:off x="-138112" y="3829050"/>
              <a:ext cx="5800800" cy="1086000"/>
              <a:chOff x="-138112" y="-57150"/>
              <a:chExt cx="5800800" cy="1086000"/>
            </a:xfrm>
          </p:grpSpPr>
          <p:pic>
            <p:nvPicPr>
              <p:cNvPr id="595" name="Google Shape;595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138112" y="-57150"/>
                <a:ext cx="5800800" cy="108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6" name="Google Shape;596;p23"/>
              <p:cNvSpPr/>
              <p:nvPr/>
            </p:nvSpPr>
            <p:spPr>
              <a:xfrm>
                <a:off x="0" y="0"/>
                <a:ext cx="47700" cy="933600"/>
              </a:xfrm>
              <a:prstGeom prst="roundRect">
                <a:avLst>
                  <a:gd fmla="val 400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23"/>
              <p:cNvSpPr txBox="1"/>
              <p:nvPr/>
            </p:nvSpPr>
            <p:spPr>
              <a:xfrm>
                <a:off x="190500" y="95250"/>
                <a:ext cx="51627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5. EXPECTED SUBSTANTIAL IMPACT</a:t>
                </a:r>
                <a:endParaRPr b="0" sz="8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Significantly less unnecessary travel for farmers, transparent local stock visibility, secure digital transaction records, streamlined credit tracking, and efficient vendor management.</a:t>
                </a:r>
                <a:endParaRPr b="0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